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9753600" cy="7315200"/>
  <p:notesSz cx="6858000" cy="9144000"/>
  <p:embeddedFontLst>
    <p:embeddedFont>
      <p:font typeface="League Spartan" charset="1" panose="00000800000000000000"/>
      <p:regular r:id="rId23"/>
    </p:embeddedFont>
    <p:embeddedFont>
      <p:font typeface="Poppins" charset="1" panose="00000500000000000000"/>
      <p:regular r:id="rId24"/>
    </p:embeddedFont>
    <p:embeddedFont>
      <p:font typeface="Poppins Italics" charset="1" panose="00000500000000000000"/>
      <p:regular r:id="rId25"/>
    </p:embeddedFont>
    <p:embeddedFont>
      <p:font typeface="Poppins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embeddings/oleObject1.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1.png" Type="http://schemas.openxmlformats.org/officeDocument/2006/relationships/image"/><Relationship Id="rId5" Target="../embeddings/oleObject2.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3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https://globalcreditdata.org/library/downturn-lgd-study-2020"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211770" y="4870301"/>
            <a:ext cx="11548531" cy="1713379"/>
            <a:chOff x="0" y="0"/>
            <a:chExt cx="4277234" cy="634585"/>
          </a:xfrm>
        </p:grpSpPr>
        <p:sp>
          <p:nvSpPr>
            <p:cNvPr name="Freeform 3" id="3"/>
            <p:cNvSpPr/>
            <p:nvPr/>
          </p:nvSpPr>
          <p:spPr>
            <a:xfrm flipH="false" flipV="false" rot="0">
              <a:off x="0" y="0"/>
              <a:ext cx="4277233" cy="634585"/>
            </a:xfrm>
            <a:custGeom>
              <a:avLst/>
              <a:gdLst/>
              <a:ahLst/>
              <a:cxnLst/>
              <a:rect r="r" b="b" t="t" l="l"/>
              <a:pathLst>
                <a:path h="634585" w="4277233">
                  <a:moveTo>
                    <a:pt x="203200" y="0"/>
                  </a:moveTo>
                  <a:lnTo>
                    <a:pt x="4277233" y="0"/>
                  </a:lnTo>
                  <a:lnTo>
                    <a:pt x="4074033" y="634585"/>
                  </a:lnTo>
                  <a:lnTo>
                    <a:pt x="0" y="634585"/>
                  </a:lnTo>
                  <a:lnTo>
                    <a:pt x="203200" y="0"/>
                  </a:lnTo>
                  <a:close/>
                </a:path>
              </a:pathLst>
            </a:custGeom>
            <a:solidFill>
              <a:srgbClr val="334257"/>
            </a:solidFill>
          </p:spPr>
        </p:sp>
        <p:sp>
          <p:nvSpPr>
            <p:cNvPr name="TextBox 4" id="4"/>
            <p:cNvSpPr txBox="true"/>
            <p:nvPr/>
          </p:nvSpPr>
          <p:spPr>
            <a:xfrm>
              <a:off x="101600" y="-47625"/>
              <a:ext cx="4074034" cy="682210"/>
            </a:xfrm>
            <a:prstGeom prst="rect">
              <a:avLst/>
            </a:prstGeom>
          </p:spPr>
          <p:txBody>
            <a:bodyPr anchor="ctr" rtlCol="false" tIns="50800" lIns="50800" bIns="50800" rIns="50800"/>
            <a:lstStyle/>
            <a:p>
              <a:pPr algn="ctr">
                <a:lnSpc>
                  <a:spcPts val="1960"/>
                </a:lnSpc>
                <a:spcBef>
                  <a:spcPct val="0"/>
                </a:spcBef>
              </a:pPr>
            </a:p>
          </p:txBody>
        </p:sp>
      </p:grpSp>
      <p:sp>
        <p:nvSpPr>
          <p:cNvPr name="Freeform 5" id="5"/>
          <p:cNvSpPr/>
          <p:nvPr/>
        </p:nvSpPr>
        <p:spPr>
          <a:xfrm flipH="true" flipV="false" rot="0">
            <a:off x="5799308" y="-289269"/>
            <a:ext cx="5599294" cy="1201303"/>
          </a:xfrm>
          <a:custGeom>
            <a:avLst/>
            <a:gdLst/>
            <a:ahLst/>
            <a:cxnLst/>
            <a:rect r="r" b="b" t="t" l="l"/>
            <a:pathLst>
              <a:path h="1201303" w="5599294">
                <a:moveTo>
                  <a:pt x="5599295" y="0"/>
                </a:moveTo>
                <a:lnTo>
                  <a:pt x="0" y="0"/>
                </a:lnTo>
                <a:lnTo>
                  <a:pt x="0" y="1201303"/>
                </a:lnTo>
                <a:lnTo>
                  <a:pt x="5599295" y="1201303"/>
                </a:lnTo>
                <a:lnTo>
                  <a:pt x="5599295"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6396370" y="392612"/>
            <a:ext cx="5157499" cy="515749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w="228600" cap="sq">
              <a:solidFill>
                <a:srgbClr val="EEEEEE"/>
              </a:solidFill>
              <a:prstDash val="solid"/>
              <a:miter/>
            </a:ln>
          </p:spPr>
        </p:sp>
      </p:grpSp>
      <p:sp>
        <p:nvSpPr>
          <p:cNvPr name="Freeform 8" id="8"/>
          <p:cNvSpPr/>
          <p:nvPr/>
        </p:nvSpPr>
        <p:spPr>
          <a:xfrm flipH="false" flipV="false" rot="0">
            <a:off x="-28575" y="6175036"/>
            <a:ext cx="7200559" cy="1544847"/>
          </a:xfrm>
          <a:custGeom>
            <a:avLst/>
            <a:gdLst/>
            <a:ahLst/>
            <a:cxnLst/>
            <a:rect r="r" b="b" t="t" l="l"/>
            <a:pathLst>
              <a:path h="1544847" w="7200559">
                <a:moveTo>
                  <a:pt x="0" y="0"/>
                </a:moveTo>
                <a:lnTo>
                  <a:pt x="7200559" y="0"/>
                </a:lnTo>
                <a:lnTo>
                  <a:pt x="7200559" y="1544847"/>
                </a:lnTo>
                <a:lnTo>
                  <a:pt x="0" y="154484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48773" y="680871"/>
            <a:ext cx="5326446" cy="3496611"/>
          </a:xfrm>
          <a:prstGeom prst="rect">
            <a:avLst/>
          </a:prstGeom>
        </p:spPr>
        <p:txBody>
          <a:bodyPr anchor="t" rtlCol="false" tIns="0" lIns="0" bIns="0" rIns="0">
            <a:spAutoFit/>
          </a:bodyPr>
          <a:lstStyle/>
          <a:p>
            <a:pPr algn="l">
              <a:lnSpc>
                <a:spcPts val="6844"/>
              </a:lnSpc>
            </a:pPr>
            <a:r>
              <a:rPr lang="en-US" sz="6221">
                <a:solidFill>
                  <a:srgbClr val="000000"/>
                </a:solidFill>
                <a:latin typeface="League Spartan"/>
                <a:ea typeface="League Spartan"/>
                <a:cs typeface="League Spartan"/>
                <a:sym typeface="League Spartan"/>
              </a:rPr>
              <a:t>AI DRIVEN LOAN RECOVERY PREDICTION </a:t>
            </a:r>
          </a:p>
        </p:txBody>
      </p:sp>
      <p:sp>
        <p:nvSpPr>
          <p:cNvPr name="TextBox 10" id="10"/>
          <p:cNvSpPr txBox="true"/>
          <p:nvPr/>
        </p:nvSpPr>
        <p:spPr>
          <a:xfrm rot="0">
            <a:off x="1021410" y="5316082"/>
            <a:ext cx="5374959" cy="410909"/>
          </a:xfrm>
          <a:prstGeom prst="rect">
            <a:avLst/>
          </a:prstGeom>
        </p:spPr>
        <p:txBody>
          <a:bodyPr anchor="t" rtlCol="false" tIns="0" lIns="0" bIns="0" rIns="0">
            <a:spAutoFit/>
          </a:bodyPr>
          <a:lstStyle/>
          <a:p>
            <a:pPr algn="l">
              <a:lnSpc>
                <a:spcPts val="3255"/>
              </a:lnSpc>
            </a:pPr>
            <a:r>
              <a:rPr lang="en-US" sz="2325">
                <a:solidFill>
                  <a:srgbClr val="FFFFFF"/>
                </a:solidFill>
                <a:latin typeface="Poppins"/>
                <a:ea typeface="Poppins"/>
                <a:cs typeface="Poppins"/>
                <a:sym typeface="Poppins"/>
              </a:rPr>
              <a:t>Created by Urielle Fotso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1159231" y="6340043"/>
            <a:ext cx="8251331" cy="975157"/>
          </a:xfrm>
          <a:custGeom>
            <a:avLst/>
            <a:gdLst/>
            <a:ahLst/>
            <a:cxnLst/>
            <a:rect r="r" b="b" t="t" l="l"/>
            <a:pathLst>
              <a:path h="975157" w="8251331">
                <a:moveTo>
                  <a:pt x="0" y="0"/>
                </a:moveTo>
                <a:lnTo>
                  <a:pt x="8251331" y="0"/>
                </a:lnTo>
                <a:lnTo>
                  <a:pt x="8251331" y="975157"/>
                </a:lnTo>
                <a:lnTo>
                  <a:pt x="0" y="975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5400000">
            <a:off x="4759969" y="2662101"/>
            <a:ext cx="9041124" cy="1726033"/>
          </a:xfrm>
          <a:custGeom>
            <a:avLst/>
            <a:gdLst/>
            <a:ahLst/>
            <a:cxnLst/>
            <a:rect r="r" b="b" t="t" l="l"/>
            <a:pathLst>
              <a:path h="1726033" w="9041124">
                <a:moveTo>
                  <a:pt x="9041124" y="0"/>
                </a:moveTo>
                <a:lnTo>
                  <a:pt x="0" y="0"/>
                </a:lnTo>
                <a:lnTo>
                  <a:pt x="0" y="1726033"/>
                </a:lnTo>
                <a:lnTo>
                  <a:pt x="9041124" y="1726033"/>
                </a:lnTo>
                <a:lnTo>
                  <a:pt x="90411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159231" y="2564182"/>
            <a:ext cx="388482" cy="38848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6" id="6"/>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grpSp>
        <p:nvGrpSpPr>
          <p:cNvPr name="Group 7" id="7"/>
          <p:cNvGrpSpPr/>
          <p:nvPr/>
        </p:nvGrpSpPr>
        <p:grpSpPr>
          <a:xfrm rot="0">
            <a:off x="1159231" y="3337565"/>
            <a:ext cx="388482" cy="38848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9" id="9"/>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grpSp>
        <p:nvGrpSpPr>
          <p:cNvPr name="Group 10" id="10"/>
          <p:cNvGrpSpPr/>
          <p:nvPr/>
        </p:nvGrpSpPr>
        <p:grpSpPr>
          <a:xfrm rot="0">
            <a:off x="1159231" y="4200699"/>
            <a:ext cx="388482" cy="388482"/>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12" id="12"/>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grpSp>
        <p:nvGrpSpPr>
          <p:cNvPr name="Group 13" id="13"/>
          <p:cNvGrpSpPr/>
          <p:nvPr/>
        </p:nvGrpSpPr>
        <p:grpSpPr>
          <a:xfrm rot="0">
            <a:off x="4667021" y="2584995"/>
            <a:ext cx="388482" cy="388482"/>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15" id="15"/>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grpSp>
        <p:nvGrpSpPr>
          <p:cNvPr name="Group 16" id="16"/>
          <p:cNvGrpSpPr/>
          <p:nvPr/>
        </p:nvGrpSpPr>
        <p:grpSpPr>
          <a:xfrm rot="0">
            <a:off x="4667021" y="3337565"/>
            <a:ext cx="388482" cy="38848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18" id="18"/>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grpSp>
        <p:nvGrpSpPr>
          <p:cNvPr name="Group 19" id="19"/>
          <p:cNvGrpSpPr/>
          <p:nvPr/>
        </p:nvGrpSpPr>
        <p:grpSpPr>
          <a:xfrm rot="0">
            <a:off x="4667021" y="4200699"/>
            <a:ext cx="388482" cy="38848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21" id="21"/>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sp>
        <p:nvSpPr>
          <p:cNvPr name="TextBox 22" id="22"/>
          <p:cNvSpPr txBox="true"/>
          <p:nvPr/>
        </p:nvSpPr>
        <p:spPr>
          <a:xfrm rot="0">
            <a:off x="1159231" y="1012974"/>
            <a:ext cx="6382452" cy="798314"/>
          </a:xfrm>
          <a:prstGeom prst="rect">
            <a:avLst/>
          </a:prstGeom>
        </p:spPr>
        <p:txBody>
          <a:bodyPr anchor="t" rtlCol="false" tIns="0" lIns="0" bIns="0" rIns="0">
            <a:spAutoFit/>
          </a:bodyPr>
          <a:lstStyle/>
          <a:p>
            <a:pPr algn="l">
              <a:lnSpc>
                <a:spcPts val="6401"/>
              </a:lnSpc>
            </a:pPr>
            <a:r>
              <a:rPr lang="en-US" sz="4812">
                <a:solidFill>
                  <a:srgbClr val="000000"/>
                </a:solidFill>
                <a:latin typeface="League Spartan"/>
                <a:ea typeface="League Spartan"/>
                <a:cs typeface="League Spartan"/>
                <a:sym typeface="League Spartan"/>
              </a:rPr>
              <a:t>AGENDA</a:t>
            </a:r>
          </a:p>
        </p:txBody>
      </p:sp>
      <p:sp>
        <p:nvSpPr>
          <p:cNvPr name="TextBox 23" id="23"/>
          <p:cNvSpPr txBox="true"/>
          <p:nvPr/>
        </p:nvSpPr>
        <p:spPr>
          <a:xfrm rot="0">
            <a:off x="1771183" y="2566125"/>
            <a:ext cx="2673751" cy="367003"/>
          </a:xfrm>
          <a:prstGeom prst="rect">
            <a:avLst/>
          </a:prstGeom>
        </p:spPr>
        <p:txBody>
          <a:bodyPr anchor="t" rtlCol="false" tIns="0" lIns="0" bIns="0" rIns="0">
            <a:spAutoFit/>
          </a:bodyPr>
          <a:lstStyle/>
          <a:p>
            <a:pPr algn="l">
              <a:lnSpc>
                <a:spcPts val="2871"/>
              </a:lnSpc>
            </a:pPr>
            <a:r>
              <a:rPr lang="en-US" sz="2051">
                <a:solidFill>
                  <a:srgbClr val="000000"/>
                </a:solidFill>
                <a:latin typeface="Poppins"/>
                <a:ea typeface="Poppins"/>
                <a:cs typeface="Poppins"/>
                <a:sym typeface="Poppins"/>
              </a:rPr>
              <a:t>Introduction </a:t>
            </a:r>
          </a:p>
        </p:txBody>
      </p:sp>
      <p:sp>
        <p:nvSpPr>
          <p:cNvPr name="TextBox 24" id="24"/>
          <p:cNvSpPr txBox="true"/>
          <p:nvPr/>
        </p:nvSpPr>
        <p:spPr>
          <a:xfrm rot="0">
            <a:off x="1771183" y="3356975"/>
            <a:ext cx="2571988" cy="367003"/>
          </a:xfrm>
          <a:prstGeom prst="rect">
            <a:avLst/>
          </a:prstGeom>
        </p:spPr>
        <p:txBody>
          <a:bodyPr anchor="t" rtlCol="false" tIns="0" lIns="0" bIns="0" rIns="0">
            <a:spAutoFit/>
          </a:bodyPr>
          <a:lstStyle/>
          <a:p>
            <a:pPr algn="l">
              <a:lnSpc>
                <a:spcPts val="2871"/>
              </a:lnSpc>
            </a:pPr>
            <a:r>
              <a:rPr lang="en-US" sz="2051">
                <a:solidFill>
                  <a:srgbClr val="000000"/>
                </a:solidFill>
                <a:latin typeface="Poppins"/>
                <a:ea typeface="Poppins"/>
                <a:cs typeface="Poppins"/>
                <a:sym typeface="Poppins"/>
              </a:rPr>
              <a:t>Objective</a:t>
            </a:r>
          </a:p>
        </p:txBody>
      </p:sp>
      <p:sp>
        <p:nvSpPr>
          <p:cNvPr name="TextBox 25" id="25"/>
          <p:cNvSpPr txBox="true"/>
          <p:nvPr/>
        </p:nvSpPr>
        <p:spPr>
          <a:xfrm rot="0">
            <a:off x="1751893" y="4947437"/>
            <a:ext cx="2409915" cy="728953"/>
          </a:xfrm>
          <a:prstGeom prst="rect">
            <a:avLst/>
          </a:prstGeom>
        </p:spPr>
        <p:txBody>
          <a:bodyPr anchor="t" rtlCol="false" tIns="0" lIns="0" bIns="0" rIns="0">
            <a:spAutoFit/>
          </a:bodyPr>
          <a:lstStyle/>
          <a:p>
            <a:pPr algn="l">
              <a:lnSpc>
                <a:spcPts val="2871"/>
              </a:lnSpc>
            </a:pPr>
            <a:r>
              <a:rPr lang="en-US" sz="2051">
                <a:solidFill>
                  <a:srgbClr val="000000"/>
                </a:solidFill>
                <a:latin typeface="Poppins"/>
                <a:ea typeface="Poppins"/>
                <a:cs typeface="Poppins"/>
                <a:sym typeface="Poppins"/>
              </a:rPr>
              <a:t>Model Performance</a:t>
            </a:r>
          </a:p>
        </p:txBody>
      </p:sp>
      <p:sp>
        <p:nvSpPr>
          <p:cNvPr name="TextBox 26" id="26"/>
          <p:cNvSpPr txBox="true"/>
          <p:nvPr/>
        </p:nvSpPr>
        <p:spPr>
          <a:xfrm rot="0">
            <a:off x="5386730" y="2574123"/>
            <a:ext cx="2482582" cy="367003"/>
          </a:xfrm>
          <a:prstGeom prst="rect">
            <a:avLst/>
          </a:prstGeom>
        </p:spPr>
        <p:txBody>
          <a:bodyPr anchor="t" rtlCol="false" tIns="0" lIns="0" bIns="0" rIns="0">
            <a:spAutoFit/>
          </a:bodyPr>
          <a:lstStyle/>
          <a:p>
            <a:pPr algn="l">
              <a:lnSpc>
                <a:spcPts val="2871"/>
              </a:lnSpc>
            </a:pPr>
            <a:r>
              <a:rPr lang="en-US" sz="2051">
                <a:solidFill>
                  <a:srgbClr val="000000"/>
                </a:solidFill>
                <a:latin typeface="Poppins"/>
                <a:ea typeface="Poppins"/>
                <a:cs typeface="Poppins"/>
                <a:sym typeface="Poppins"/>
              </a:rPr>
              <a:t>Predictor Insight</a:t>
            </a:r>
          </a:p>
        </p:txBody>
      </p:sp>
      <p:sp>
        <p:nvSpPr>
          <p:cNvPr name="TextBox 27" id="27"/>
          <p:cNvSpPr txBox="true"/>
          <p:nvPr/>
        </p:nvSpPr>
        <p:spPr>
          <a:xfrm rot="0">
            <a:off x="1771183" y="4182901"/>
            <a:ext cx="2787215" cy="367003"/>
          </a:xfrm>
          <a:prstGeom prst="rect">
            <a:avLst/>
          </a:prstGeom>
        </p:spPr>
        <p:txBody>
          <a:bodyPr anchor="t" rtlCol="false" tIns="0" lIns="0" bIns="0" rIns="0">
            <a:spAutoFit/>
          </a:bodyPr>
          <a:lstStyle/>
          <a:p>
            <a:pPr algn="l">
              <a:lnSpc>
                <a:spcPts val="2871"/>
              </a:lnSpc>
            </a:pPr>
            <a:r>
              <a:rPr lang="en-US" sz="2051">
                <a:solidFill>
                  <a:srgbClr val="000000"/>
                </a:solidFill>
                <a:latin typeface="Poppins"/>
                <a:ea typeface="Poppins"/>
                <a:cs typeface="Poppins"/>
                <a:sym typeface="Poppins"/>
              </a:rPr>
              <a:t>Data Overview</a:t>
            </a:r>
          </a:p>
        </p:txBody>
      </p:sp>
      <p:sp>
        <p:nvSpPr>
          <p:cNvPr name="TextBox 28" id="28"/>
          <p:cNvSpPr txBox="true"/>
          <p:nvPr/>
        </p:nvSpPr>
        <p:spPr>
          <a:xfrm rot="0">
            <a:off x="5379353" y="3319754"/>
            <a:ext cx="3050262" cy="367030"/>
          </a:xfrm>
          <a:prstGeom prst="rect">
            <a:avLst/>
          </a:prstGeom>
        </p:spPr>
        <p:txBody>
          <a:bodyPr anchor="t" rtlCol="false" tIns="0" lIns="0" bIns="0" rIns="0">
            <a:spAutoFit/>
          </a:bodyPr>
          <a:lstStyle/>
          <a:p>
            <a:pPr algn="l">
              <a:lnSpc>
                <a:spcPts val="2869"/>
              </a:lnSpc>
              <a:spcBef>
                <a:spcPct val="0"/>
              </a:spcBef>
            </a:pPr>
            <a:r>
              <a:rPr lang="en-US" sz="2049" spc="92">
                <a:solidFill>
                  <a:srgbClr val="000000"/>
                </a:solidFill>
                <a:latin typeface="Poppins"/>
                <a:ea typeface="Poppins"/>
                <a:cs typeface="Poppins"/>
                <a:sym typeface="Poppins"/>
              </a:rPr>
              <a:t>Key Takeaways</a:t>
            </a:r>
          </a:p>
        </p:txBody>
      </p:sp>
      <p:grpSp>
        <p:nvGrpSpPr>
          <p:cNvPr name="Group 29" id="29"/>
          <p:cNvGrpSpPr/>
          <p:nvPr/>
        </p:nvGrpSpPr>
        <p:grpSpPr>
          <a:xfrm rot="0">
            <a:off x="1159231" y="5004587"/>
            <a:ext cx="388482" cy="38848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31" id="31"/>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grpSp>
        <p:nvGrpSpPr>
          <p:cNvPr name="Group 32" id="32"/>
          <p:cNvGrpSpPr/>
          <p:nvPr/>
        </p:nvGrpSpPr>
        <p:grpSpPr>
          <a:xfrm rot="0">
            <a:off x="4667021" y="5004587"/>
            <a:ext cx="388482" cy="388482"/>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8395"/>
            </a:solidFill>
          </p:spPr>
        </p:sp>
        <p:sp>
          <p:nvSpPr>
            <p:cNvPr name="TextBox 34" id="34"/>
            <p:cNvSpPr txBox="true"/>
            <p:nvPr/>
          </p:nvSpPr>
          <p:spPr>
            <a:xfrm>
              <a:off x="76200" y="28575"/>
              <a:ext cx="660400" cy="708025"/>
            </a:xfrm>
            <a:prstGeom prst="rect">
              <a:avLst/>
            </a:prstGeom>
          </p:spPr>
          <p:txBody>
            <a:bodyPr anchor="ctr" rtlCol="false" tIns="52114" lIns="52114" bIns="52114" rIns="52114"/>
            <a:lstStyle/>
            <a:p>
              <a:pPr algn="ctr">
                <a:lnSpc>
                  <a:spcPts val="2566"/>
                </a:lnSpc>
              </a:pPr>
            </a:p>
          </p:txBody>
        </p:sp>
      </p:grpSp>
      <p:sp>
        <p:nvSpPr>
          <p:cNvPr name="TextBox 35" id="35"/>
          <p:cNvSpPr txBox="true"/>
          <p:nvPr/>
        </p:nvSpPr>
        <p:spPr>
          <a:xfrm rot="0">
            <a:off x="5386730" y="4143549"/>
            <a:ext cx="2787215" cy="367003"/>
          </a:xfrm>
          <a:prstGeom prst="rect">
            <a:avLst/>
          </a:prstGeom>
        </p:spPr>
        <p:txBody>
          <a:bodyPr anchor="t" rtlCol="false" tIns="0" lIns="0" bIns="0" rIns="0">
            <a:spAutoFit/>
          </a:bodyPr>
          <a:lstStyle/>
          <a:p>
            <a:pPr algn="l">
              <a:lnSpc>
                <a:spcPts val="2871"/>
              </a:lnSpc>
            </a:pPr>
            <a:r>
              <a:rPr lang="en-US" sz="2051">
                <a:solidFill>
                  <a:srgbClr val="000000"/>
                </a:solidFill>
                <a:latin typeface="Poppins"/>
                <a:ea typeface="Poppins"/>
                <a:cs typeface="Poppins"/>
                <a:sym typeface="Poppins"/>
              </a:rPr>
              <a:t>Recommendations</a:t>
            </a:r>
          </a:p>
        </p:txBody>
      </p:sp>
      <p:sp>
        <p:nvSpPr>
          <p:cNvPr name="TextBox 36" id="36"/>
          <p:cNvSpPr txBox="true"/>
          <p:nvPr/>
        </p:nvSpPr>
        <p:spPr>
          <a:xfrm rot="0">
            <a:off x="5367253" y="4986738"/>
            <a:ext cx="2502058" cy="1090930"/>
          </a:xfrm>
          <a:prstGeom prst="rect">
            <a:avLst/>
          </a:prstGeom>
        </p:spPr>
        <p:txBody>
          <a:bodyPr anchor="t" rtlCol="false" tIns="0" lIns="0" bIns="0" rIns="0">
            <a:spAutoFit/>
          </a:bodyPr>
          <a:lstStyle/>
          <a:p>
            <a:pPr algn="l">
              <a:lnSpc>
                <a:spcPts val="2869"/>
              </a:lnSpc>
              <a:spcBef>
                <a:spcPct val="0"/>
              </a:spcBef>
            </a:pPr>
            <a:r>
              <a:rPr lang="en-US" sz="2049" spc="92">
                <a:solidFill>
                  <a:srgbClr val="000000"/>
                </a:solidFill>
                <a:latin typeface="Poppins"/>
                <a:ea typeface="Poppins"/>
                <a:cs typeface="Poppins"/>
                <a:sym typeface="Poppins"/>
              </a:rPr>
              <a:t>Conclusion, references &amp; appendix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grpSp>
        <p:nvGrpSpPr>
          <p:cNvPr name="Group 2" id="2"/>
          <p:cNvGrpSpPr/>
          <p:nvPr/>
        </p:nvGrpSpPr>
        <p:grpSpPr>
          <a:xfrm rot="0">
            <a:off x="-100805" y="2829250"/>
            <a:ext cx="9252415" cy="3148812"/>
            <a:chOff x="0" y="0"/>
            <a:chExt cx="3426820" cy="1166227"/>
          </a:xfrm>
        </p:grpSpPr>
        <p:sp>
          <p:nvSpPr>
            <p:cNvPr name="Freeform 3" id="3"/>
            <p:cNvSpPr/>
            <p:nvPr/>
          </p:nvSpPr>
          <p:spPr>
            <a:xfrm flipH="false" flipV="false" rot="0">
              <a:off x="0" y="0"/>
              <a:ext cx="3426820" cy="1166227"/>
            </a:xfrm>
            <a:custGeom>
              <a:avLst/>
              <a:gdLst/>
              <a:ahLst/>
              <a:cxnLst/>
              <a:rect r="r" b="b" t="t" l="l"/>
              <a:pathLst>
                <a:path h="1166227" w="3426820">
                  <a:moveTo>
                    <a:pt x="203200" y="0"/>
                  </a:moveTo>
                  <a:lnTo>
                    <a:pt x="3426820" y="0"/>
                  </a:lnTo>
                  <a:lnTo>
                    <a:pt x="3223620" y="1166227"/>
                  </a:lnTo>
                  <a:lnTo>
                    <a:pt x="0" y="1166227"/>
                  </a:lnTo>
                  <a:lnTo>
                    <a:pt x="203200" y="0"/>
                  </a:lnTo>
                  <a:close/>
                </a:path>
              </a:pathLst>
            </a:custGeom>
            <a:solidFill>
              <a:srgbClr val="545454"/>
            </a:solidFill>
            <a:ln w="114300" cap="sq">
              <a:solidFill>
                <a:srgbClr val="EEEEEE"/>
              </a:solidFill>
              <a:prstDash val="solid"/>
              <a:miter/>
            </a:ln>
          </p:spPr>
        </p:sp>
        <p:sp>
          <p:nvSpPr>
            <p:cNvPr name="TextBox 4" id="4"/>
            <p:cNvSpPr txBox="true"/>
            <p:nvPr/>
          </p:nvSpPr>
          <p:spPr>
            <a:xfrm>
              <a:off x="101600" y="-57150"/>
              <a:ext cx="3223620" cy="1223377"/>
            </a:xfrm>
            <a:prstGeom prst="rect">
              <a:avLst/>
            </a:prstGeom>
          </p:spPr>
          <p:txBody>
            <a:bodyPr anchor="ctr" rtlCol="false" tIns="50800" lIns="50800" bIns="50800" rIns="50800"/>
            <a:lstStyle/>
            <a:p>
              <a:pPr algn="ctr">
                <a:lnSpc>
                  <a:spcPts val="2519"/>
                </a:lnSpc>
              </a:pPr>
              <a:r>
                <a:rPr lang="en-US" sz="1799">
                  <a:solidFill>
                    <a:srgbClr val="FFFFFF"/>
                  </a:solidFill>
                  <a:latin typeface="Poppins"/>
                  <a:ea typeface="Poppins"/>
                  <a:cs typeface="Poppins"/>
                  <a:sym typeface="Poppins"/>
                </a:rPr>
                <a:t>-Resource misallocation , missing high-value loans</a:t>
              </a:r>
            </a:p>
            <a:p>
              <a:pPr algn="ctr">
                <a:lnSpc>
                  <a:spcPts val="2519"/>
                </a:lnSpc>
              </a:pPr>
            </a:p>
            <a:p>
              <a:pPr algn="ctr">
                <a:lnSpc>
                  <a:spcPts val="2519"/>
                </a:lnSpc>
              </a:pPr>
              <a:r>
                <a:rPr lang="en-US" sz="1799">
                  <a:solidFill>
                    <a:srgbClr val="FFFFFF"/>
                  </a:solidFill>
                  <a:latin typeface="Poppins"/>
                  <a:ea typeface="Poppins"/>
                  <a:cs typeface="Poppins"/>
                  <a:sym typeface="Poppins"/>
                </a:rPr>
                <a:t>-Lack consistency and data-driven prioritization</a:t>
              </a:r>
            </a:p>
            <a:p>
              <a:pPr algn="ctr">
                <a:lnSpc>
                  <a:spcPts val="2519"/>
                </a:lnSpc>
              </a:pPr>
            </a:p>
            <a:p>
              <a:pPr algn="ctr">
                <a:lnSpc>
                  <a:spcPts val="2519"/>
                </a:lnSpc>
              </a:pPr>
              <a:r>
                <a:rPr lang="en-US" sz="1799">
                  <a:solidFill>
                    <a:srgbClr val="FFFFFF"/>
                  </a:solidFill>
                  <a:latin typeface="Poppins"/>
                  <a:ea typeface="Poppins"/>
                  <a:cs typeface="Poppins"/>
                  <a:sym typeface="Poppins"/>
                </a:rPr>
                <a:t>-</a:t>
              </a:r>
              <a:r>
                <a:rPr lang="en-US" sz="1799">
                  <a:solidFill>
                    <a:srgbClr val="FFFFFF"/>
                  </a:solidFill>
                  <a:latin typeface="Poppins"/>
                  <a:ea typeface="Poppins"/>
                  <a:cs typeface="Poppins"/>
                  <a:sym typeface="Poppins"/>
                </a:rPr>
                <a:t>Financial toll: Up to 7% loan portfolio loss during downturns from recovery failures(Dhaenens,2020, Global </a:t>
              </a:r>
            </a:p>
            <a:p>
              <a:pPr algn="ctr">
                <a:lnSpc>
                  <a:spcPts val="2519"/>
                </a:lnSpc>
              </a:pPr>
              <a:r>
                <a:rPr lang="en-US" sz="1799">
                  <a:solidFill>
                    <a:srgbClr val="FFFFFF"/>
                  </a:solidFill>
                  <a:latin typeface="Poppins"/>
                  <a:ea typeface="Poppins"/>
                  <a:cs typeface="Poppins"/>
                  <a:sym typeface="Poppins"/>
                </a:rPr>
                <a:t>Credit Data ).</a:t>
              </a:r>
            </a:p>
            <a:p>
              <a:pPr algn="ctr">
                <a:lnSpc>
                  <a:spcPts val="2519"/>
                </a:lnSpc>
                <a:spcBef>
                  <a:spcPct val="0"/>
                </a:spcBef>
              </a:pPr>
            </a:p>
          </p:txBody>
        </p:sp>
      </p:grpSp>
      <p:grpSp>
        <p:nvGrpSpPr>
          <p:cNvPr name="Group 5" id="5"/>
          <p:cNvGrpSpPr/>
          <p:nvPr/>
        </p:nvGrpSpPr>
        <p:grpSpPr>
          <a:xfrm rot="0">
            <a:off x="8656320" y="0"/>
            <a:ext cx="2194560" cy="7043753"/>
            <a:chOff x="0" y="0"/>
            <a:chExt cx="812800" cy="2608797"/>
          </a:xfrm>
        </p:grpSpPr>
        <p:sp>
          <p:nvSpPr>
            <p:cNvPr name="Freeform 6" id="6"/>
            <p:cNvSpPr/>
            <p:nvPr/>
          </p:nvSpPr>
          <p:spPr>
            <a:xfrm flipH="false" flipV="false" rot="0">
              <a:off x="0" y="0"/>
              <a:ext cx="812800" cy="2608797"/>
            </a:xfrm>
            <a:custGeom>
              <a:avLst/>
              <a:gdLst/>
              <a:ahLst/>
              <a:cxnLst/>
              <a:rect r="r" b="b" t="t" l="l"/>
              <a:pathLst>
                <a:path h="2608797" w="812800">
                  <a:moveTo>
                    <a:pt x="812800" y="1304399"/>
                  </a:moveTo>
                  <a:lnTo>
                    <a:pt x="609600" y="2608797"/>
                  </a:lnTo>
                  <a:lnTo>
                    <a:pt x="203200" y="2608797"/>
                  </a:lnTo>
                  <a:lnTo>
                    <a:pt x="0" y="1304399"/>
                  </a:lnTo>
                  <a:lnTo>
                    <a:pt x="203200" y="0"/>
                  </a:lnTo>
                  <a:lnTo>
                    <a:pt x="609600" y="0"/>
                  </a:lnTo>
                  <a:lnTo>
                    <a:pt x="812800" y="1304399"/>
                  </a:lnTo>
                  <a:close/>
                </a:path>
              </a:pathLst>
            </a:custGeom>
            <a:solidFill>
              <a:srgbClr val="545454"/>
            </a:solidFill>
          </p:spPr>
        </p:sp>
        <p:sp>
          <p:nvSpPr>
            <p:cNvPr name="TextBox 7" id="7"/>
            <p:cNvSpPr txBox="true"/>
            <p:nvPr/>
          </p:nvSpPr>
          <p:spPr>
            <a:xfrm>
              <a:off x="114300" y="-47625"/>
              <a:ext cx="584200" cy="2656422"/>
            </a:xfrm>
            <a:prstGeom prst="rect">
              <a:avLst/>
            </a:prstGeom>
          </p:spPr>
          <p:txBody>
            <a:bodyPr anchor="ctr" rtlCol="false" tIns="50800" lIns="50800" bIns="50800" rIns="50800"/>
            <a:lstStyle/>
            <a:p>
              <a:pPr algn="ctr">
                <a:lnSpc>
                  <a:spcPts val="2566"/>
                </a:lnSpc>
              </a:pPr>
            </a:p>
          </p:txBody>
        </p:sp>
      </p:grpSp>
      <p:sp>
        <p:nvSpPr>
          <p:cNvPr name="Freeform 8" id="8"/>
          <p:cNvSpPr/>
          <p:nvPr/>
        </p:nvSpPr>
        <p:spPr>
          <a:xfrm flipH="false" flipV="false" rot="0">
            <a:off x="2631691" y="6180067"/>
            <a:ext cx="8051312" cy="1727372"/>
          </a:xfrm>
          <a:custGeom>
            <a:avLst/>
            <a:gdLst/>
            <a:ahLst/>
            <a:cxnLst/>
            <a:rect r="r" b="b" t="t" l="l"/>
            <a:pathLst>
              <a:path h="1727372" w="8051312">
                <a:moveTo>
                  <a:pt x="0" y="0"/>
                </a:moveTo>
                <a:lnTo>
                  <a:pt x="8051312" y="0"/>
                </a:lnTo>
                <a:lnTo>
                  <a:pt x="8051312" y="1727372"/>
                </a:lnTo>
                <a:lnTo>
                  <a:pt x="0" y="17273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738467" y="252336"/>
            <a:ext cx="448925" cy="479184"/>
            <a:chOff x="0" y="0"/>
            <a:chExt cx="166269" cy="177475"/>
          </a:xfrm>
        </p:grpSpPr>
        <p:sp>
          <p:nvSpPr>
            <p:cNvPr name="Freeform 10" id="10"/>
            <p:cNvSpPr/>
            <p:nvPr/>
          </p:nvSpPr>
          <p:spPr>
            <a:xfrm flipH="false" flipV="false" rot="0">
              <a:off x="0" y="0"/>
              <a:ext cx="166269" cy="177475"/>
            </a:xfrm>
            <a:custGeom>
              <a:avLst/>
              <a:gdLst/>
              <a:ahLst/>
              <a:cxnLst/>
              <a:rect r="r" b="b" t="t" l="l"/>
              <a:pathLst>
                <a:path h="177475" w="166269">
                  <a:moveTo>
                    <a:pt x="83134" y="0"/>
                  </a:moveTo>
                  <a:lnTo>
                    <a:pt x="83134" y="0"/>
                  </a:lnTo>
                  <a:cubicBezTo>
                    <a:pt x="129048" y="0"/>
                    <a:pt x="166269" y="37220"/>
                    <a:pt x="166269" y="83134"/>
                  </a:cubicBezTo>
                  <a:lnTo>
                    <a:pt x="166269" y="94341"/>
                  </a:lnTo>
                  <a:cubicBezTo>
                    <a:pt x="166269" y="140255"/>
                    <a:pt x="129048" y="177475"/>
                    <a:pt x="83134" y="177475"/>
                  </a:cubicBezTo>
                  <a:lnTo>
                    <a:pt x="83134" y="177475"/>
                  </a:lnTo>
                  <a:cubicBezTo>
                    <a:pt x="37220" y="177475"/>
                    <a:pt x="0" y="140255"/>
                    <a:pt x="0" y="94341"/>
                  </a:cubicBezTo>
                  <a:lnTo>
                    <a:pt x="0" y="83134"/>
                  </a:lnTo>
                  <a:cubicBezTo>
                    <a:pt x="0" y="37220"/>
                    <a:pt x="37220" y="0"/>
                    <a:pt x="83134" y="0"/>
                  </a:cubicBezTo>
                  <a:close/>
                </a:path>
              </a:pathLst>
            </a:custGeom>
            <a:solidFill>
              <a:srgbClr val="088395"/>
            </a:solidFill>
          </p:spPr>
        </p:sp>
        <p:sp>
          <p:nvSpPr>
            <p:cNvPr name="TextBox 11" id="11"/>
            <p:cNvSpPr txBox="true"/>
            <p:nvPr/>
          </p:nvSpPr>
          <p:spPr>
            <a:xfrm>
              <a:off x="0" y="-47625"/>
              <a:ext cx="166269" cy="225100"/>
            </a:xfrm>
            <a:prstGeom prst="rect">
              <a:avLst/>
            </a:prstGeom>
          </p:spPr>
          <p:txBody>
            <a:bodyPr anchor="ctr" rtlCol="false" tIns="50800" lIns="50800" bIns="50800" rIns="50800"/>
            <a:lstStyle/>
            <a:p>
              <a:pPr algn="ctr">
                <a:lnSpc>
                  <a:spcPts val="2566"/>
                </a:lnSpc>
              </a:pPr>
            </a:p>
          </p:txBody>
        </p:sp>
      </p:grpSp>
      <p:sp>
        <p:nvSpPr>
          <p:cNvPr name="TextBox 12" id="12"/>
          <p:cNvSpPr txBox="true"/>
          <p:nvPr/>
        </p:nvSpPr>
        <p:spPr>
          <a:xfrm rot="0">
            <a:off x="1888854" y="176136"/>
            <a:ext cx="6298538" cy="1890889"/>
          </a:xfrm>
          <a:prstGeom prst="rect">
            <a:avLst/>
          </a:prstGeom>
        </p:spPr>
        <p:txBody>
          <a:bodyPr anchor="t" rtlCol="false" tIns="0" lIns="0" bIns="0" rIns="0">
            <a:spAutoFit/>
          </a:bodyPr>
          <a:lstStyle/>
          <a:p>
            <a:pPr algn="l">
              <a:lnSpc>
                <a:spcPts val="7528"/>
              </a:lnSpc>
            </a:pPr>
          </a:p>
          <a:p>
            <a:pPr algn="l">
              <a:lnSpc>
                <a:spcPts val="7528"/>
              </a:lnSpc>
            </a:pPr>
            <a:r>
              <a:rPr lang="en-US" sz="5660">
                <a:solidFill>
                  <a:srgbClr val="000000"/>
                </a:solidFill>
                <a:latin typeface="League Spartan"/>
                <a:ea typeface="League Spartan"/>
                <a:cs typeface="League Spartan"/>
                <a:sym typeface="League Spartan"/>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24943" y="3306292"/>
            <a:ext cx="7846921" cy="984432"/>
          </a:xfrm>
          <a:custGeom>
            <a:avLst/>
            <a:gdLst/>
            <a:ahLst/>
            <a:cxnLst/>
            <a:rect r="r" b="b" t="t" l="l"/>
            <a:pathLst>
              <a:path h="984432" w="7846921">
                <a:moveTo>
                  <a:pt x="0" y="0"/>
                </a:moveTo>
                <a:lnTo>
                  <a:pt x="7846921" y="0"/>
                </a:lnTo>
                <a:lnTo>
                  <a:pt x="7846921" y="984432"/>
                </a:lnTo>
                <a:lnTo>
                  <a:pt x="0" y="9844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21404" y="4177507"/>
            <a:ext cx="6650716" cy="1577548"/>
            <a:chOff x="0" y="0"/>
            <a:chExt cx="2016696" cy="478360"/>
          </a:xfrm>
        </p:grpSpPr>
        <p:sp>
          <p:nvSpPr>
            <p:cNvPr name="Freeform 4" id="4"/>
            <p:cNvSpPr/>
            <p:nvPr/>
          </p:nvSpPr>
          <p:spPr>
            <a:xfrm flipH="false" flipV="false" rot="0">
              <a:off x="0" y="0"/>
              <a:ext cx="2016696" cy="478360"/>
            </a:xfrm>
            <a:custGeom>
              <a:avLst/>
              <a:gdLst/>
              <a:ahLst/>
              <a:cxnLst/>
              <a:rect r="r" b="b" t="t" l="l"/>
              <a:pathLst>
                <a:path h="478360" w="2016696">
                  <a:moveTo>
                    <a:pt x="27938" y="0"/>
                  </a:moveTo>
                  <a:lnTo>
                    <a:pt x="1988758" y="0"/>
                  </a:lnTo>
                  <a:cubicBezTo>
                    <a:pt x="2004188" y="0"/>
                    <a:pt x="2016696" y="12508"/>
                    <a:pt x="2016696" y="27938"/>
                  </a:cubicBezTo>
                  <a:lnTo>
                    <a:pt x="2016696" y="450422"/>
                  </a:lnTo>
                  <a:cubicBezTo>
                    <a:pt x="2016696" y="465852"/>
                    <a:pt x="2004188" y="478360"/>
                    <a:pt x="1988758" y="478360"/>
                  </a:cubicBezTo>
                  <a:lnTo>
                    <a:pt x="27938" y="478360"/>
                  </a:lnTo>
                  <a:cubicBezTo>
                    <a:pt x="12508" y="478360"/>
                    <a:pt x="0" y="465852"/>
                    <a:pt x="0" y="450422"/>
                  </a:cubicBezTo>
                  <a:lnTo>
                    <a:pt x="0" y="27938"/>
                  </a:lnTo>
                  <a:cubicBezTo>
                    <a:pt x="0" y="12508"/>
                    <a:pt x="12508" y="0"/>
                    <a:pt x="27938" y="0"/>
                  </a:cubicBezTo>
                  <a:close/>
                </a:path>
              </a:pathLst>
            </a:custGeom>
            <a:solidFill>
              <a:srgbClr val="548CA8"/>
            </a:solidFill>
          </p:spPr>
        </p:sp>
        <p:sp>
          <p:nvSpPr>
            <p:cNvPr name="TextBox 5" id="5"/>
            <p:cNvSpPr txBox="true"/>
            <p:nvPr/>
          </p:nvSpPr>
          <p:spPr>
            <a:xfrm>
              <a:off x="0" y="-47625"/>
              <a:ext cx="2016696" cy="525985"/>
            </a:xfrm>
            <a:prstGeom prst="rect">
              <a:avLst/>
            </a:prstGeom>
          </p:spPr>
          <p:txBody>
            <a:bodyPr anchor="ctr" rtlCol="false" tIns="50800" lIns="50800" bIns="50800" rIns="50800"/>
            <a:lstStyle/>
            <a:p>
              <a:pPr algn="ctr">
                <a:lnSpc>
                  <a:spcPts val="2566"/>
                </a:lnSpc>
              </a:pPr>
            </a:p>
          </p:txBody>
        </p:sp>
      </p:grpSp>
      <p:grpSp>
        <p:nvGrpSpPr>
          <p:cNvPr name="Group 6" id="6"/>
          <p:cNvGrpSpPr/>
          <p:nvPr/>
        </p:nvGrpSpPr>
        <p:grpSpPr>
          <a:xfrm rot="0">
            <a:off x="731520" y="4177507"/>
            <a:ext cx="1736121" cy="1577548"/>
            <a:chOff x="0" y="0"/>
            <a:chExt cx="1148770" cy="1043844"/>
          </a:xfrm>
        </p:grpSpPr>
        <p:sp>
          <p:nvSpPr>
            <p:cNvPr name="Freeform 7" id="7"/>
            <p:cNvSpPr/>
            <p:nvPr/>
          </p:nvSpPr>
          <p:spPr>
            <a:xfrm flipH="false" flipV="false" rot="0">
              <a:off x="0" y="0"/>
              <a:ext cx="1148770" cy="1043844"/>
            </a:xfrm>
            <a:custGeom>
              <a:avLst/>
              <a:gdLst/>
              <a:ahLst/>
              <a:cxnLst/>
              <a:rect r="r" b="b" t="t" l="l"/>
              <a:pathLst>
                <a:path h="1043844" w="1148770">
                  <a:moveTo>
                    <a:pt x="574385" y="0"/>
                  </a:moveTo>
                  <a:cubicBezTo>
                    <a:pt x="257161" y="0"/>
                    <a:pt x="0" y="233673"/>
                    <a:pt x="0" y="521922"/>
                  </a:cubicBezTo>
                  <a:cubicBezTo>
                    <a:pt x="0" y="810172"/>
                    <a:pt x="257161" y="1043844"/>
                    <a:pt x="574385" y="1043844"/>
                  </a:cubicBezTo>
                  <a:cubicBezTo>
                    <a:pt x="891609" y="1043844"/>
                    <a:pt x="1148770" y="810172"/>
                    <a:pt x="1148770" y="521922"/>
                  </a:cubicBezTo>
                  <a:cubicBezTo>
                    <a:pt x="1148770" y="233673"/>
                    <a:pt x="891609" y="0"/>
                    <a:pt x="574385" y="0"/>
                  </a:cubicBezTo>
                  <a:close/>
                </a:path>
              </a:pathLst>
            </a:custGeom>
            <a:blipFill>
              <a:blip r:embed="rId4"/>
              <a:stretch>
                <a:fillRect l="-18192" t="0" r="-18192" b="0"/>
              </a:stretch>
            </a:blipFill>
            <a:ln w="85725" cap="sq">
              <a:solidFill>
                <a:srgbClr val="EEEEEE"/>
              </a:solidFill>
              <a:prstDash val="solid"/>
              <a:miter/>
            </a:ln>
          </p:spPr>
        </p:sp>
      </p:grpSp>
      <p:sp>
        <p:nvSpPr>
          <p:cNvPr name="Freeform 8" id="8"/>
          <p:cNvSpPr/>
          <p:nvPr/>
        </p:nvSpPr>
        <p:spPr>
          <a:xfrm flipH="true" flipV="false" rot="0">
            <a:off x="7878578" y="3391740"/>
            <a:ext cx="767486" cy="406768"/>
          </a:xfrm>
          <a:custGeom>
            <a:avLst/>
            <a:gdLst/>
            <a:ahLst/>
            <a:cxnLst/>
            <a:rect r="r" b="b" t="t" l="l"/>
            <a:pathLst>
              <a:path h="406768" w="767486">
                <a:moveTo>
                  <a:pt x="767486" y="0"/>
                </a:moveTo>
                <a:lnTo>
                  <a:pt x="0" y="0"/>
                </a:lnTo>
                <a:lnTo>
                  <a:pt x="0" y="406768"/>
                </a:lnTo>
                <a:lnTo>
                  <a:pt x="767486" y="406768"/>
                </a:lnTo>
                <a:lnTo>
                  <a:pt x="76748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930321" y="6583680"/>
            <a:ext cx="1375388" cy="964486"/>
            <a:chOff x="0" y="0"/>
            <a:chExt cx="509403" cy="357217"/>
          </a:xfrm>
        </p:grpSpPr>
        <p:sp>
          <p:nvSpPr>
            <p:cNvPr name="Freeform 10" id="10"/>
            <p:cNvSpPr/>
            <p:nvPr/>
          </p:nvSpPr>
          <p:spPr>
            <a:xfrm flipH="false" flipV="false" rot="0">
              <a:off x="0" y="0"/>
              <a:ext cx="509403" cy="357217"/>
            </a:xfrm>
            <a:custGeom>
              <a:avLst/>
              <a:gdLst/>
              <a:ahLst/>
              <a:cxnLst/>
              <a:rect r="r" b="b" t="t" l="l"/>
              <a:pathLst>
                <a:path h="357217" w="509403">
                  <a:moveTo>
                    <a:pt x="45031" y="0"/>
                  </a:moveTo>
                  <a:lnTo>
                    <a:pt x="464372" y="0"/>
                  </a:lnTo>
                  <a:cubicBezTo>
                    <a:pt x="489242" y="0"/>
                    <a:pt x="509403" y="20161"/>
                    <a:pt x="509403" y="45031"/>
                  </a:cubicBezTo>
                  <a:lnTo>
                    <a:pt x="509403" y="312186"/>
                  </a:lnTo>
                  <a:cubicBezTo>
                    <a:pt x="509403" y="337056"/>
                    <a:pt x="489242" y="357217"/>
                    <a:pt x="464372" y="357217"/>
                  </a:cubicBezTo>
                  <a:lnTo>
                    <a:pt x="45031" y="357217"/>
                  </a:lnTo>
                  <a:cubicBezTo>
                    <a:pt x="20161" y="357217"/>
                    <a:pt x="0" y="337056"/>
                    <a:pt x="0" y="312186"/>
                  </a:cubicBezTo>
                  <a:lnTo>
                    <a:pt x="0" y="45031"/>
                  </a:lnTo>
                  <a:cubicBezTo>
                    <a:pt x="0" y="20161"/>
                    <a:pt x="20161" y="0"/>
                    <a:pt x="45031" y="0"/>
                  </a:cubicBezTo>
                  <a:close/>
                </a:path>
              </a:pathLst>
            </a:custGeom>
            <a:solidFill>
              <a:srgbClr val="548CA8"/>
            </a:solidFill>
          </p:spPr>
        </p:sp>
        <p:sp>
          <p:nvSpPr>
            <p:cNvPr name="TextBox 11" id="11"/>
            <p:cNvSpPr txBox="true"/>
            <p:nvPr/>
          </p:nvSpPr>
          <p:spPr>
            <a:xfrm>
              <a:off x="0" y="-47625"/>
              <a:ext cx="509403" cy="404842"/>
            </a:xfrm>
            <a:prstGeom prst="rect">
              <a:avLst/>
            </a:prstGeom>
          </p:spPr>
          <p:txBody>
            <a:bodyPr anchor="ctr" rtlCol="false" tIns="50800" lIns="50800" bIns="50800" rIns="50800"/>
            <a:lstStyle/>
            <a:p>
              <a:pPr algn="ctr">
                <a:lnSpc>
                  <a:spcPts val="2566"/>
                </a:lnSpc>
              </a:pPr>
            </a:p>
          </p:txBody>
        </p:sp>
      </p:grpSp>
      <p:grpSp>
        <p:nvGrpSpPr>
          <p:cNvPr name="Group 12" id="12"/>
          <p:cNvGrpSpPr/>
          <p:nvPr/>
        </p:nvGrpSpPr>
        <p:grpSpPr>
          <a:xfrm rot="0">
            <a:off x="-930321" y="0"/>
            <a:ext cx="1375388" cy="964486"/>
            <a:chOff x="0" y="0"/>
            <a:chExt cx="509403" cy="357217"/>
          </a:xfrm>
        </p:grpSpPr>
        <p:sp>
          <p:nvSpPr>
            <p:cNvPr name="Freeform 13" id="13"/>
            <p:cNvSpPr/>
            <p:nvPr/>
          </p:nvSpPr>
          <p:spPr>
            <a:xfrm flipH="false" flipV="false" rot="0">
              <a:off x="0" y="0"/>
              <a:ext cx="509403" cy="357217"/>
            </a:xfrm>
            <a:custGeom>
              <a:avLst/>
              <a:gdLst/>
              <a:ahLst/>
              <a:cxnLst/>
              <a:rect r="r" b="b" t="t" l="l"/>
              <a:pathLst>
                <a:path h="357217" w="509403">
                  <a:moveTo>
                    <a:pt x="45031" y="0"/>
                  </a:moveTo>
                  <a:lnTo>
                    <a:pt x="464372" y="0"/>
                  </a:lnTo>
                  <a:cubicBezTo>
                    <a:pt x="489242" y="0"/>
                    <a:pt x="509403" y="20161"/>
                    <a:pt x="509403" y="45031"/>
                  </a:cubicBezTo>
                  <a:lnTo>
                    <a:pt x="509403" y="312186"/>
                  </a:lnTo>
                  <a:cubicBezTo>
                    <a:pt x="509403" y="337056"/>
                    <a:pt x="489242" y="357217"/>
                    <a:pt x="464372" y="357217"/>
                  </a:cubicBezTo>
                  <a:lnTo>
                    <a:pt x="45031" y="357217"/>
                  </a:lnTo>
                  <a:cubicBezTo>
                    <a:pt x="20161" y="357217"/>
                    <a:pt x="0" y="337056"/>
                    <a:pt x="0" y="312186"/>
                  </a:cubicBezTo>
                  <a:lnTo>
                    <a:pt x="0" y="45031"/>
                  </a:lnTo>
                  <a:cubicBezTo>
                    <a:pt x="0" y="20161"/>
                    <a:pt x="20161" y="0"/>
                    <a:pt x="45031" y="0"/>
                  </a:cubicBezTo>
                  <a:close/>
                </a:path>
              </a:pathLst>
            </a:custGeom>
            <a:solidFill>
              <a:srgbClr val="548CA8"/>
            </a:solidFill>
          </p:spPr>
        </p:sp>
        <p:sp>
          <p:nvSpPr>
            <p:cNvPr name="TextBox 14" id="14"/>
            <p:cNvSpPr txBox="true"/>
            <p:nvPr/>
          </p:nvSpPr>
          <p:spPr>
            <a:xfrm>
              <a:off x="0" y="-47625"/>
              <a:ext cx="509403" cy="404842"/>
            </a:xfrm>
            <a:prstGeom prst="rect">
              <a:avLst/>
            </a:prstGeom>
          </p:spPr>
          <p:txBody>
            <a:bodyPr anchor="ctr" rtlCol="false" tIns="50800" lIns="50800" bIns="50800" rIns="50800"/>
            <a:lstStyle/>
            <a:p>
              <a:pPr algn="ctr">
                <a:lnSpc>
                  <a:spcPts val="2566"/>
                </a:lnSpc>
              </a:pPr>
            </a:p>
          </p:txBody>
        </p:sp>
      </p:grpSp>
      <p:grpSp>
        <p:nvGrpSpPr>
          <p:cNvPr name="Group 15" id="15"/>
          <p:cNvGrpSpPr/>
          <p:nvPr/>
        </p:nvGrpSpPr>
        <p:grpSpPr>
          <a:xfrm rot="0">
            <a:off x="1838238" y="1914593"/>
            <a:ext cx="6115315" cy="1680531"/>
            <a:chOff x="0" y="0"/>
            <a:chExt cx="1854347" cy="509587"/>
          </a:xfrm>
        </p:grpSpPr>
        <p:sp>
          <p:nvSpPr>
            <p:cNvPr name="Freeform 16" id="16"/>
            <p:cNvSpPr/>
            <p:nvPr/>
          </p:nvSpPr>
          <p:spPr>
            <a:xfrm flipH="false" flipV="false" rot="0">
              <a:off x="0" y="0"/>
              <a:ext cx="1854347" cy="509587"/>
            </a:xfrm>
            <a:custGeom>
              <a:avLst/>
              <a:gdLst/>
              <a:ahLst/>
              <a:cxnLst/>
              <a:rect r="r" b="b" t="t" l="l"/>
              <a:pathLst>
                <a:path h="509587" w="1854347">
                  <a:moveTo>
                    <a:pt x="30384" y="0"/>
                  </a:moveTo>
                  <a:lnTo>
                    <a:pt x="1823963" y="0"/>
                  </a:lnTo>
                  <a:cubicBezTo>
                    <a:pt x="1840743" y="0"/>
                    <a:pt x="1854347" y="13603"/>
                    <a:pt x="1854347" y="30384"/>
                  </a:cubicBezTo>
                  <a:lnTo>
                    <a:pt x="1854347" y="479204"/>
                  </a:lnTo>
                  <a:cubicBezTo>
                    <a:pt x="1854347" y="487262"/>
                    <a:pt x="1851145" y="494990"/>
                    <a:pt x="1845447" y="500688"/>
                  </a:cubicBezTo>
                  <a:cubicBezTo>
                    <a:pt x="1839749" y="506386"/>
                    <a:pt x="1832021" y="509587"/>
                    <a:pt x="1823963" y="509587"/>
                  </a:cubicBezTo>
                  <a:lnTo>
                    <a:pt x="30384" y="509587"/>
                  </a:lnTo>
                  <a:cubicBezTo>
                    <a:pt x="22325" y="509587"/>
                    <a:pt x="14597" y="506386"/>
                    <a:pt x="8899" y="500688"/>
                  </a:cubicBezTo>
                  <a:cubicBezTo>
                    <a:pt x="3201" y="494990"/>
                    <a:pt x="0" y="487262"/>
                    <a:pt x="0" y="479204"/>
                  </a:cubicBezTo>
                  <a:lnTo>
                    <a:pt x="0" y="30384"/>
                  </a:lnTo>
                  <a:cubicBezTo>
                    <a:pt x="0" y="22325"/>
                    <a:pt x="3201" y="14597"/>
                    <a:pt x="8899" y="8899"/>
                  </a:cubicBezTo>
                  <a:cubicBezTo>
                    <a:pt x="14597" y="3201"/>
                    <a:pt x="22325" y="0"/>
                    <a:pt x="30384" y="0"/>
                  </a:cubicBezTo>
                  <a:close/>
                </a:path>
              </a:pathLst>
            </a:custGeom>
            <a:solidFill>
              <a:srgbClr val="548CA8"/>
            </a:solidFill>
          </p:spPr>
        </p:sp>
        <p:sp>
          <p:nvSpPr>
            <p:cNvPr name="TextBox 17" id="17"/>
            <p:cNvSpPr txBox="true"/>
            <p:nvPr/>
          </p:nvSpPr>
          <p:spPr>
            <a:xfrm>
              <a:off x="0" y="-47625"/>
              <a:ext cx="1854347" cy="557212"/>
            </a:xfrm>
            <a:prstGeom prst="rect">
              <a:avLst/>
            </a:prstGeom>
          </p:spPr>
          <p:txBody>
            <a:bodyPr anchor="ctr" rtlCol="false" tIns="50800" lIns="50800" bIns="50800" rIns="50800"/>
            <a:lstStyle/>
            <a:p>
              <a:pPr algn="ctr">
                <a:lnSpc>
                  <a:spcPts val="2566"/>
                </a:lnSpc>
              </a:pPr>
            </a:p>
          </p:txBody>
        </p:sp>
      </p:grpSp>
      <p:grpSp>
        <p:nvGrpSpPr>
          <p:cNvPr name="Group 18" id="18"/>
          <p:cNvGrpSpPr/>
          <p:nvPr/>
        </p:nvGrpSpPr>
        <p:grpSpPr>
          <a:xfrm rot="0">
            <a:off x="590093" y="1874257"/>
            <a:ext cx="1877548" cy="1720866"/>
            <a:chOff x="0" y="0"/>
            <a:chExt cx="1242350" cy="1138676"/>
          </a:xfrm>
        </p:grpSpPr>
        <p:sp>
          <p:nvSpPr>
            <p:cNvPr name="Freeform 19" id="19"/>
            <p:cNvSpPr/>
            <p:nvPr/>
          </p:nvSpPr>
          <p:spPr>
            <a:xfrm flipH="false" flipV="false" rot="0">
              <a:off x="0" y="0"/>
              <a:ext cx="1242350" cy="1138676"/>
            </a:xfrm>
            <a:custGeom>
              <a:avLst/>
              <a:gdLst/>
              <a:ahLst/>
              <a:cxnLst/>
              <a:rect r="r" b="b" t="t" l="l"/>
              <a:pathLst>
                <a:path h="1138676" w="1242350">
                  <a:moveTo>
                    <a:pt x="621175" y="0"/>
                  </a:moveTo>
                  <a:cubicBezTo>
                    <a:pt x="278110" y="0"/>
                    <a:pt x="0" y="254901"/>
                    <a:pt x="0" y="569338"/>
                  </a:cubicBezTo>
                  <a:cubicBezTo>
                    <a:pt x="0" y="883775"/>
                    <a:pt x="278110" y="1138676"/>
                    <a:pt x="621175" y="1138676"/>
                  </a:cubicBezTo>
                  <a:cubicBezTo>
                    <a:pt x="964241" y="1138676"/>
                    <a:pt x="1242350" y="883775"/>
                    <a:pt x="1242350" y="569338"/>
                  </a:cubicBezTo>
                  <a:cubicBezTo>
                    <a:pt x="1242350" y="254901"/>
                    <a:pt x="964241" y="0"/>
                    <a:pt x="621175" y="0"/>
                  </a:cubicBezTo>
                  <a:close/>
                </a:path>
              </a:pathLst>
            </a:custGeom>
            <a:blipFill>
              <a:blip r:embed="rId7"/>
              <a:stretch>
                <a:fillRect l="-11534" t="0" r="-26033" b="0"/>
              </a:stretch>
            </a:blipFill>
            <a:ln w="85725" cap="sq">
              <a:solidFill>
                <a:srgbClr val="EEEEEE"/>
              </a:solidFill>
              <a:prstDash val="solid"/>
              <a:miter/>
            </a:ln>
          </p:spPr>
        </p:sp>
      </p:grpSp>
      <p:sp>
        <p:nvSpPr>
          <p:cNvPr name="TextBox 20" id="20"/>
          <p:cNvSpPr txBox="true"/>
          <p:nvPr/>
        </p:nvSpPr>
        <p:spPr>
          <a:xfrm rot="0">
            <a:off x="1020741" y="664845"/>
            <a:ext cx="6932812" cy="822341"/>
          </a:xfrm>
          <a:prstGeom prst="rect">
            <a:avLst/>
          </a:prstGeom>
        </p:spPr>
        <p:txBody>
          <a:bodyPr anchor="t" rtlCol="false" tIns="0" lIns="0" bIns="0" rIns="0">
            <a:spAutoFit/>
          </a:bodyPr>
          <a:lstStyle/>
          <a:p>
            <a:pPr algn="l">
              <a:lnSpc>
                <a:spcPts val="6648"/>
              </a:lnSpc>
            </a:pPr>
            <a:r>
              <a:rPr lang="en-US" sz="4999">
                <a:solidFill>
                  <a:srgbClr val="000000"/>
                </a:solidFill>
                <a:latin typeface="League Spartan"/>
                <a:ea typeface="League Spartan"/>
                <a:cs typeface="League Spartan"/>
                <a:sym typeface="League Spartan"/>
              </a:rPr>
              <a:t>OBJECTIVES</a:t>
            </a:r>
          </a:p>
        </p:txBody>
      </p:sp>
      <p:sp>
        <p:nvSpPr>
          <p:cNvPr name="TextBox 21" id="21"/>
          <p:cNvSpPr txBox="true"/>
          <p:nvPr/>
        </p:nvSpPr>
        <p:spPr>
          <a:xfrm rot="0">
            <a:off x="2467641" y="4338181"/>
            <a:ext cx="5704479" cy="1208575"/>
          </a:xfrm>
          <a:prstGeom prst="rect">
            <a:avLst/>
          </a:prstGeom>
        </p:spPr>
        <p:txBody>
          <a:bodyPr anchor="t" rtlCol="false" tIns="0" lIns="0" bIns="0" rIns="0">
            <a:spAutoFit/>
          </a:bodyPr>
          <a:lstStyle/>
          <a:p>
            <a:pPr algn="l">
              <a:lnSpc>
                <a:spcPts val="2427"/>
              </a:lnSpc>
            </a:pPr>
            <a:r>
              <a:rPr lang="en-US" sz="1734" i="true">
                <a:solidFill>
                  <a:srgbClr val="FFFFFF"/>
                </a:solidFill>
                <a:latin typeface="Poppins Italics"/>
                <a:ea typeface="Poppins Italics"/>
                <a:cs typeface="Poppins Italics"/>
                <a:sym typeface="Poppins Italics"/>
              </a:rPr>
              <a:t>Recommend cost-effective recovery strategies, enabling our organization to maximize loan recovery rates while adhering to Canadian regulatory standards (FCAC/PIPEDA)</a:t>
            </a:r>
          </a:p>
        </p:txBody>
      </p:sp>
      <p:sp>
        <p:nvSpPr>
          <p:cNvPr name="TextBox 22" id="22"/>
          <p:cNvSpPr txBox="true"/>
          <p:nvPr/>
        </p:nvSpPr>
        <p:spPr>
          <a:xfrm rot="0">
            <a:off x="2467641" y="2106591"/>
            <a:ext cx="5111083" cy="1208575"/>
          </a:xfrm>
          <a:prstGeom prst="rect">
            <a:avLst/>
          </a:prstGeom>
        </p:spPr>
        <p:txBody>
          <a:bodyPr anchor="t" rtlCol="false" tIns="0" lIns="0" bIns="0" rIns="0">
            <a:spAutoFit/>
          </a:bodyPr>
          <a:lstStyle/>
          <a:p>
            <a:pPr algn="l">
              <a:lnSpc>
                <a:spcPts val="2427"/>
              </a:lnSpc>
            </a:pPr>
            <a:r>
              <a:rPr lang="en-US" sz="1734" i="true">
                <a:solidFill>
                  <a:srgbClr val="FFFFFF"/>
                </a:solidFill>
                <a:latin typeface="Poppins Italics"/>
                <a:ea typeface="Poppins Italics"/>
                <a:cs typeface="Poppins Italics"/>
                <a:sym typeface="Poppins Italics"/>
              </a:rPr>
              <a:t> Develop an AI-driven predictive model to accurately forecast the recovery status of loans (Fully Recovered, Partially Recovered, or Written Off)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24943" y="3306292"/>
            <a:ext cx="7846921" cy="984432"/>
          </a:xfrm>
          <a:custGeom>
            <a:avLst/>
            <a:gdLst/>
            <a:ahLst/>
            <a:cxnLst/>
            <a:rect r="r" b="b" t="t" l="l"/>
            <a:pathLst>
              <a:path h="984432" w="7846921">
                <a:moveTo>
                  <a:pt x="0" y="0"/>
                </a:moveTo>
                <a:lnTo>
                  <a:pt x="7846921" y="0"/>
                </a:lnTo>
                <a:lnTo>
                  <a:pt x="7846921" y="984432"/>
                </a:lnTo>
                <a:lnTo>
                  <a:pt x="0" y="9844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7878578" y="3391740"/>
            <a:ext cx="767486" cy="406768"/>
          </a:xfrm>
          <a:custGeom>
            <a:avLst/>
            <a:gdLst/>
            <a:ahLst/>
            <a:cxnLst/>
            <a:rect r="r" b="b" t="t" l="l"/>
            <a:pathLst>
              <a:path h="406768" w="767486">
                <a:moveTo>
                  <a:pt x="767486" y="0"/>
                </a:moveTo>
                <a:lnTo>
                  <a:pt x="0" y="0"/>
                </a:lnTo>
                <a:lnTo>
                  <a:pt x="0" y="406768"/>
                </a:lnTo>
                <a:lnTo>
                  <a:pt x="767486" y="406768"/>
                </a:lnTo>
                <a:lnTo>
                  <a:pt x="76748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0741" y="664845"/>
            <a:ext cx="6932812" cy="822341"/>
          </a:xfrm>
          <a:prstGeom prst="rect">
            <a:avLst/>
          </a:prstGeom>
        </p:spPr>
        <p:txBody>
          <a:bodyPr anchor="t" rtlCol="false" tIns="0" lIns="0" bIns="0" rIns="0">
            <a:spAutoFit/>
          </a:bodyPr>
          <a:lstStyle/>
          <a:p>
            <a:pPr algn="l">
              <a:lnSpc>
                <a:spcPts val="6648"/>
              </a:lnSpc>
            </a:pPr>
            <a:r>
              <a:rPr lang="en-US" sz="4999">
                <a:solidFill>
                  <a:srgbClr val="000000"/>
                </a:solidFill>
                <a:latin typeface="League Spartan"/>
                <a:ea typeface="League Spartan"/>
                <a:cs typeface="League Spartan"/>
                <a:sym typeface="League Spartan"/>
              </a:rPr>
              <a:t>DATA OVERVIEW</a:t>
            </a:r>
          </a:p>
        </p:txBody>
      </p:sp>
      <p:sp>
        <p:nvSpPr>
          <p:cNvPr name="TextBox 5" id="5"/>
          <p:cNvSpPr txBox="true"/>
          <p:nvPr/>
        </p:nvSpPr>
        <p:spPr>
          <a:xfrm rot="0">
            <a:off x="571770" y="2078016"/>
            <a:ext cx="7173886" cy="4185691"/>
          </a:xfrm>
          <a:prstGeom prst="rect">
            <a:avLst/>
          </a:prstGeom>
        </p:spPr>
        <p:txBody>
          <a:bodyPr anchor="t" rtlCol="false" tIns="0" lIns="0" bIns="0" rIns="0">
            <a:spAutoFit/>
          </a:bodyPr>
          <a:lstStyle/>
          <a:p>
            <a:pPr algn="l">
              <a:lnSpc>
                <a:spcPts val="3407"/>
              </a:lnSpc>
            </a:pPr>
            <a:r>
              <a:rPr lang="en-US" sz="2434" i="true">
                <a:solidFill>
                  <a:srgbClr val="000000"/>
                </a:solidFill>
                <a:latin typeface="Poppins Italics"/>
                <a:ea typeface="Poppins Italics"/>
                <a:cs typeface="Poppins Italics"/>
                <a:sym typeface="Poppins Italics"/>
              </a:rPr>
              <a:t>-</a:t>
            </a:r>
            <a:r>
              <a:rPr lang="en-US" sz="2434">
                <a:solidFill>
                  <a:srgbClr val="000000"/>
                </a:solidFill>
                <a:latin typeface="Poppins"/>
                <a:ea typeface="Poppins"/>
                <a:cs typeface="Poppins"/>
                <a:sym typeface="Poppins"/>
              </a:rPr>
              <a:t>Data Sources: Internal loan performance records</a:t>
            </a:r>
          </a:p>
          <a:p>
            <a:pPr algn="l">
              <a:lnSpc>
                <a:spcPts val="3407"/>
              </a:lnSpc>
            </a:pPr>
            <a:r>
              <a:rPr lang="en-US" sz="2434">
                <a:solidFill>
                  <a:srgbClr val="000000"/>
                </a:solidFill>
                <a:latin typeface="Poppins"/>
                <a:ea typeface="Poppins"/>
                <a:cs typeface="Poppins"/>
                <a:sym typeface="Poppins"/>
              </a:rPr>
              <a:t>-Volume: 500</a:t>
            </a:r>
          </a:p>
          <a:p>
            <a:pPr algn="l">
              <a:lnSpc>
                <a:spcPts val="3407"/>
              </a:lnSpc>
            </a:pPr>
            <a:r>
              <a:rPr lang="en-US" sz="2434">
                <a:solidFill>
                  <a:srgbClr val="000000"/>
                </a:solidFill>
                <a:latin typeface="Poppins"/>
                <a:ea typeface="Poppins"/>
                <a:cs typeface="Poppins"/>
                <a:sym typeface="Poppins"/>
              </a:rPr>
              <a:t>-Variables:</a:t>
            </a:r>
          </a:p>
          <a:p>
            <a:pPr algn="l">
              <a:lnSpc>
                <a:spcPts val="3407"/>
              </a:lnSpc>
            </a:pPr>
            <a:r>
              <a:rPr lang="en-US" sz="2434">
                <a:solidFill>
                  <a:srgbClr val="000000"/>
                </a:solidFill>
                <a:latin typeface="Poppins"/>
                <a:ea typeface="Poppins"/>
                <a:cs typeface="Poppins"/>
                <a:sym typeface="Poppins"/>
              </a:rPr>
              <a:t>          .Number of missed payments,loan ID, burrower ID, recovery status, age ,gender</a:t>
            </a:r>
          </a:p>
          <a:p>
            <a:pPr algn="l">
              <a:lnSpc>
                <a:spcPts val="3407"/>
              </a:lnSpc>
            </a:pPr>
            <a:r>
              <a:rPr lang="en-US" sz="2434">
                <a:solidFill>
                  <a:srgbClr val="000000"/>
                </a:solidFill>
                <a:latin typeface="Poppins"/>
                <a:ea typeface="Poppins"/>
                <a:cs typeface="Poppins"/>
                <a:sym typeface="Poppins"/>
              </a:rPr>
              <a:t>          .EMI, loan type, legal action, payment history, loan amount </a:t>
            </a:r>
          </a:p>
          <a:p>
            <a:pPr algn="l">
              <a:lnSpc>
                <a:spcPts val="3407"/>
              </a:lnSpc>
            </a:pPr>
            <a:r>
              <a:rPr lang="en-US" sz="2434">
                <a:solidFill>
                  <a:srgbClr val="000000"/>
                </a:solidFill>
                <a:latin typeface="Poppins"/>
                <a:ea typeface="Poppins"/>
                <a:cs typeface="Poppins"/>
                <a:sym typeface="Poppins"/>
              </a:rPr>
              <a:t>         .Collection attempts</a:t>
            </a:r>
          </a:p>
          <a:p>
            <a:pPr algn="l">
              <a:lnSpc>
                <a:spcPts val="242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424943" y="3306292"/>
            <a:ext cx="7846921" cy="984432"/>
          </a:xfrm>
          <a:custGeom>
            <a:avLst/>
            <a:gdLst/>
            <a:ahLst/>
            <a:cxnLst/>
            <a:rect r="r" b="b" t="t" l="l"/>
            <a:pathLst>
              <a:path h="984432" w="7846921">
                <a:moveTo>
                  <a:pt x="0" y="0"/>
                </a:moveTo>
                <a:lnTo>
                  <a:pt x="7846921" y="0"/>
                </a:lnTo>
                <a:lnTo>
                  <a:pt x="7846921" y="984432"/>
                </a:lnTo>
                <a:lnTo>
                  <a:pt x="0" y="9844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76860" y="664845"/>
            <a:ext cx="7576692" cy="822341"/>
          </a:xfrm>
          <a:prstGeom prst="rect">
            <a:avLst/>
          </a:prstGeom>
        </p:spPr>
        <p:txBody>
          <a:bodyPr anchor="t" rtlCol="false" tIns="0" lIns="0" bIns="0" rIns="0">
            <a:spAutoFit/>
          </a:bodyPr>
          <a:lstStyle/>
          <a:p>
            <a:pPr algn="l">
              <a:lnSpc>
                <a:spcPts val="6648"/>
              </a:lnSpc>
            </a:pPr>
            <a:r>
              <a:rPr lang="en-US" sz="4999">
                <a:solidFill>
                  <a:srgbClr val="000000"/>
                </a:solidFill>
                <a:latin typeface="League Spartan"/>
                <a:ea typeface="League Spartan"/>
                <a:cs typeface="League Spartan"/>
                <a:sym typeface="League Spartan"/>
              </a:rPr>
              <a:t>MODELING STRATEGY</a:t>
            </a:r>
          </a:p>
        </p:txBody>
      </p:sp>
      <p:sp>
        <p:nvSpPr>
          <p:cNvPr name="TextBox 4" id="4"/>
          <p:cNvSpPr txBox="true"/>
          <p:nvPr/>
        </p:nvSpPr>
        <p:spPr>
          <a:xfrm rot="0">
            <a:off x="376860" y="2106591"/>
            <a:ext cx="8354333" cy="3299866"/>
          </a:xfrm>
          <a:prstGeom prst="rect">
            <a:avLst/>
          </a:prstGeom>
        </p:spPr>
        <p:txBody>
          <a:bodyPr anchor="t" rtlCol="false" tIns="0" lIns="0" bIns="0" rIns="0">
            <a:spAutoFit/>
          </a:bodyPr>
          <a:lstStyle/>
          <a:p>
            <a:pPr algn="l">
              <a:lnSpc>
                <a:spcPts val="2427"/>
              </a:lnSpc>
            </a:pPr>
          </a:p>
          <a:p>
            <a:pPr algn="l">
              <a:lnSpc>
                <a:spcPts val="3407"/>
              </a:lnSpc>
            </a:pPr>
            <a:r>
              <a:rPr lang="en-US" sz="2434">
                <a:solidFill>
                  <a:srgbClr val="000000"/>
                </a:solidFill>
                <a:latin typeface="Poppins"/>
                <a:ea typeface="Poppins"/>
                <a:cs typeface="Poppins"/>
                <a:sym typeface="Poppins"/>
              </a:rPr>
              <a:t>·Modeling strategy </a:t>
            </a:r>
          </a:p>
          <a:p>
            <a:pPr algn="l">
              <a:lnSpc>
                <a:spcPts val="3407"/>
              </a:lnSpc>
            </a:pPr>
            <a:r>
              <a:rPr lang="en-US" sz="2434">
                <a:solidFill>
                  <a:srgbClr val="000000"/>
                </a:solidFill>
                <a:latin typeface="Poppins"/>
                <a:ea typeface="Poppins"/>
                <a:cs typeface="Poppins"/>
                <a:sym typeface="Poppins"/>
              </a:rPr>
              <a:t>   Step 1: Recovered (1) vs. Written Off (0)</a:t>
            </a:r>
          </a:p>
          <a:p>
            <a:pPr algn="l">
              <a:lnSpc>
                <a:spcPts val="3407"/>
              </a:lnSpc>
            </a:pPr>
            <a:r>
              <a:rPr lang="en-US" sz="2434">
                <a:solidFill>
                  <a:srgbClr val="000000"/>
                </a:solidFill>
                <a:latin typeface="Poppins"/>
                <a:ea typeface="Poppins"/>
                <a:cs typeface="Poppins"/>
                <a:sym typeface="Poppins"/>
              </a:rPr>
              <a:t>   Step 2: Fully Recovered (1) vs. Partially Recovered (0)</a:t>
            </a:r>
          </a:p>
          <a:p>
            <a:pPr algn="l">
              <a:lnSpc>
                <a:spcPts val="3407"/>
              </a:lnSpc>
            </a:pPr>
            <a:r>
              <a:rPr lang="en-US" sz="2434">
                <a:solidFill>
                  <a:srgbClr val="000000"/>
                </a:solidFill>
                <a:latin typeface="Poppins"/>
                <a:ea typeface="Poppins"/>
                <a:cs typeface="Poppins"/>
                <a:sym typeface="Poppins"/>
              </a:rPr>
              <a:t>·Algorithms Used:</a:t>
            </a:r>
          </a:p>
          <a:p>
            <a:pPr algn="l">
              <a:lnSpc>
                <a:spcPts val="3407"/>
              </a:lnSpc>
            </a:pPr>
            <a:r>
              <a:rPr lang="en-US" sz="2434">
                <a:solidFill>
                  <a:srgbClr val="000000"/>
                </a:solidFill>
                <a:latin typeface="Poppins"/>
                <a:ea typeface="Poppins"/>
                <a:cs typeface="Poppins"/>
                <a:sym typeface="Poppins"/>
              </a:rPr>
              <a:t>        .Decision Tree</a:t>
            </a:r>
          </a:p>
          <a:p>
            <a:pPr algn="l">
              <a:lnSpc>
                <a:spcPts val="3407"/>
              </a:lnSpc>
            </a:pPr>
            <a:r>
              <a:rPr lang="en-US" sz="2434">
                <a:solidFill>
                  <a:srgbClr val="000000"/>
                </a:solidFill>
                <a:latin typeface="Poppins"/>
                <a:ea typeface="Poppins"/>
                <a:cs typeface="Poppins"/>
                <a:sym typeface="Poppins"/>
              </a:rPr>
              <a:t>        .Random Forest</a:t>
            </a:r>
          </a:p>
          <a:p>
            <a:pPr algn="l">
              <a:lnSpc>
                <a:spcPts val="3407"/>
              </a:lnSpc>
            </a:pPr>
            <a:r>
              <a:rPr lang="en-US" sz="2434">
                <a:solidFill>
                  <a:srgbClr val="000000"/>
                </a:solidFill>
                <a:latin typeface="Poppins"/>
                <a:ea typeface="Poppins"/>
                <a:cs typeface="Poppins"/>
                <a:sym typeface="Poppins"/>
              </a:rPr>
              <a:t>        .Logistic Regression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6217232" y="756422"/>
            <a:ext cx="6381692" cy="1357560"/>
          </a:xfrm>
          <a:custGeom>
            <a:avLst/>
            <a:gdLst/>
            <a:ahLst/>
            <a:cxnLst/>
            <a:rect r="r" b="b" t="t" l="l"/>
            <a:pathLst>
              <a:path h="1357560" w="6381692">
                <a:moveTo>
                  <a:pt x="0" y="0"/>
                </a:moveTo>
                <a:lnTo>
                  <a:pt x="6381692" y="0"/>
                </a:lnTo>
                <a:lnTo>
                  <a:pt x="6381692" y="1357560"/>
                </a:lnTo>
                <a:lnTo>
                  <a:pt x="0" y="1357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83427" y="5292358"/>
            <a:ext cx="1463040" cy="1257300"/>
            <a:chOff x="0" y="0"/>
            <a:chExt cx="812800" cy="698500"/>
          </a:xfrm>
        </p:grpSpPr>
        <p:sp>
          <p:nvSpPr>
            <p:cNvPr name="Freeform 4" id="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334257"/>
            </a:solidFill>
          </p:spPr>
        </p:sp>
        <p:sp>
          <p:nvSpPr>
            <p:cNvPr name="TextBox 5" id="5"/>
            <p:cNvSpPr txBox="true"/>
            <p:nvPr/>
          </p:nvSpPr>
          <p:spPr>
            <a:xfrm>
              <a:off x="114300" y="-47625"/>
              <a:ext cx="584200" cy="746125"/>
            </a:xfrm>
            <a:prstGeom prst="rect">
              <a:avLst/>
            </a:prstGeom>
          </p:spPr>
          <p:txBody>
            <a:bodyPr anchor="ctr" rtlCol="false" tIns="50800" lIns="50800" bIns="50800" rIns="50800"/>
            <a:lstStyle/>
            <a:p>
              <a:pPr algn="ctr">
                <a:lnSpc>
                  <a:spcPts val="2566"/>
                </a:lnSpc>
              </a:pPr>
            </a:p>
          </p:txBody>
        </p:sp>
      </p:grpSp>
      <p:sp>
        <p:nvSpPr>
          <p:cNvPr name="TextBox 6" id="6"/>
          <p:cNvSpPr txBox="true"/>
          <p:nvPr/>
        </p:nvSpPr>
        <p:spPr>
          <a:xfrm rot="0">
            <a:off x="813512" y="689747"/>
            <a:ext cx="5579650" cy="1660541"/>
          </a:xfrm>
          <a:prstGeom prst="rect">
            <a:avLst/>
          </a:prstGeom>
        </p:spPr>
        <p:txBody>
          <a:bodyPr anchor="t" rtlCol="false" tIns="0" lIns="0" bIns="0" rIns="0">
            <a:spAutoFit/>
          </a:bodyPr>
          <a:lstStyle/>
          <a:p>
            <a:pPr algn="l">
              <a:lnSpc>
                <a:spcPts val="6648"/>
              </a:lnSpc>
            </a:pPr>
            <a:r>
              <a:rPr lang="en-US" sz="4999">
                <a:solidFill>
                  <a:srgbClr val="000000"/>
                </a:solidFill>
                <a:latin typeface="League Spartan"/>
                <a:ea typeface="League Spartan"/>
                <a:cs typeface="League Spartan"/>
                <a:sym typeface="League Spartan"/>
              </a:rPr>
              <a:t>PERFORMANCE METRICS STEP 1</a:t>
            </a:r>
          </a:p>
        </p:txBody>
      </p:sp>
      <p:grpSp>
        <p:nvGrpSpPr>
          <p:cNvPr name="Group 7" id="7"/>
          <p:cNvGrpSpPr/>
          <p:nvPr/>
        </p:nvGrpSpPr>
        <p:grpSpPr>
          <a:xfrm rot="0">
            <a:off x="-963684" y="3028950"/>
            <a:ext cx="1463040" cy="1257300"/>
            <a:chOff x="0" y="0"/>
            <a:chExt cx="812800" cy="698500"/>
          </a:xfrm>
        </p:grpSpPr>
        <p:sp>
          <p:nvSpPr>
            <p:cNvPr name="Freeform 8" id="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334257"/>
            </a:solidFill>
          </p:spPr>
        </p:sp>
        <p:sp>
          <p:nvSpPr>
            <p:cNvPr name="TextBox 9" id="9"/>
            <p:cNvSpPr txBox="true"/>
            <p:nvPr/>
          </p:nvSpPr>
          <p:spPr>
            <a:xfrm>
              <a:off x="114300" y="-47625"/>
              <a:ext cx="584200" cy="746125"/>
            </a:xfrm>
            <a:prstGeom prst="rect">
              <a:avLst/>
            </a:prstGeom>
          </p:spPr>
          <p:txBody>
            <a:bodyPr anchor="ctr" rtlCol="false" tIns="50800" lIns="50800" bIns="50800" rIns="50800"/>
            <a:lstStyle/>
            <a:p>
              <a:pPr algn="ctr">
                <a:lnSpc>
                  <a:spcPts val="2566"/>
                </a:lnSpc>
              </a:pPr>
            </a:p>
          </p:txBody>
        </p:sp>
      </p:grpSp>
      <p:graphicFrame>
        <p:nvGraphicFramePr>
          <p:cNvPr name="Object 10" id="10"/>
          <p:cNvGraphicFramePr/>
          <p:nvPr/>
        </p:nvGraphicFramePr>
        <p:xfrm>
          <a:off x="534765" y="2350288"/>
          <a:ext cx="7753350" cy="5029200"/>
        </p:xfrm>
        <a:graphic>
          <a:graphicData uri="http://schemas.openxmlformats.org/presentationml/2006/ole">
            <p:oleObj imgW="9296400" imgH="65786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6217232" y="756422"/>
            <a:ext cx="6381692" cy="1357560"/>
          </a:xfrm>
          <a:custGeom>
            <a:avLst/>
            <a:gdLst/>
            <a:ahLst/>
            <a:cxnLst/>
            <a:rect r="r" b="b" t="t" l="l"/>
            <a:pathLst>
              <a:path h="1357560" w="6381692">
                <a:moveTo>
                  <a:pt x="0" y="0"/>
                </a:moveTo>
                <a:lnTo>
                  <a:pt x="6381692" y="0"/>
                </a:lnTo>
                <a:lnTo>
                  <a:pt x="6381692" y="1357560"/>
                </a:lnTo>
                <a:lnTo>
                  <a:pt x="0" y="1357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183427" y="5292358"/>
            <a:ext cx="1463040" cy="1257300"/>
            <a:chOff x="0" y="0"/>
            <a:chExt cx="812800" cy="698500"/>
          </a:xfrm>
        </p:grpSpPr>
        <p:sp>
          <p:nvSpPr>
            <p:cNvPr name="Freeform 4" id="4"/>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334257"/>
            </a:solidFill>
          </p:spPr>
        </p:sp>
        <p:sp>
          <p:nvSpPr>
            <p:cNvPr name="TextBox 5" id="5"/>
            <p:cNvSpPr txBox="true"/>
            <p:nvPr/>
          </p:nvSpPr>
          <p:spPr>
            <a:xfrm>
              <a:off x="114300" y="-47625"/>
              <a:ext cx="584200" cy="746125"/>
            </a:xfrm>
            <a:prstGeom prst="rect">
              <a:avLst/>
            </a:prstGeom>
          </p:spPr>
          <p:txBody>
            <a:bodyPr anchor="ctr" rtlCol="false" tIns="50800" lIns="50800" bIns="50800" rIns="50800"/>
            <a:lstStyle/>
            <a:p>
              <a:pPr algn="ctr">
                <a:lnSpc>
                  <a:spcPts val="2566"/>
                </a:lnSpc>
              </a:pPr>
            </a:p>
          </p:txBody>
        </p:sp>
      </p:grpSp>
      <p:sp>
        <p:nvSpPr>
          <p:cNvPr name="TextBox 6" id="6"/>
          <p:cNvSpPr txBox="true"/>
          <p:nvPr/>
        </p:nvSpPr>
        <p:spPr>
          <a:xfrm rot="0">
            <a:off x="813512" y="689747"/>
            <a:ext cx="5579650" cy="1660541"/>
          </a:xfrm>
          <a:prstGeom prst="rect">
            <a:avLst/>
          </a:prstGeom>
        </p:spPr>
        <p:txBody>
          <a:bodyPr anchor="t" rtlCol="false" tIns="0" lIns="0" bIns="0" rIns="0">
            <a:spAutoFit/>
          </a:bodyPr>
          <a:lstStyle/>
          <a:p>
            <a:pPr algn="l">
              <a:lnSpc>
                <a:spcPts val="6648"/>
              </a:lnSpc>
            </a:pPr>
            <a:r>
              <a:rPr lang="en-US" sz="4999">
                <a:solidFill>
                  <a:srgbClr val="000000"/>
                </a:solidFill>
                <a:latin typeface="League Spartan"/>
                <a:ea typeface="League Spartan"/>
                <a:cs typeface="League Spartan"/>
                <a:sym typeface="League Spartan"/>
              </a:rPr>
              <a:t>PERFORMANCE METRICS STEP 2</a:t>
            </a:r>
          </a:p>
        </p:txBody>
      </p:sp>
      <p:grpSp>
        <p:nvGrpSpPr>
          <p:cNvPr name="Group 7" id="7"/>
          <p:cNvGrpSpPr/>
          <p:nvPr/>
        </p:nvGrpSpPr>
        <p:grpSpPr>
          <a:xfrm rot="0">
            <a:off x="-963684" y="3028950"/>
            <a:ext cx="1463040" cy="1257300"/>
            <a:chOff x="0" y="0"/>
            <a:chExt cx="812800" cy="698500"/>
          </a:xfrm>
        </p:grpSpPr>
        <p:sp>
          <p:nvSpPr>
            <p:cNvPr name="Freeform 8" id="8"/>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334257"/>
            </a:solidFill>
          </p:spPr>
        </p:sp>
        <p:sp>
          <p:nvSpPr>
            <p:cNvPr name="TextBox 9" id="9"/>
            <p:cNvSpPr txBox="true"/>
            <p:nvPr/>
          </p:nvSpPr>
          <p:spPr>
            <a:xfrm>
              <a:off x="114300" y="-47625"/>
              <a:ext cx="584200" cy="746125"/>
            </a:xfrm>
            <a:prstGeom prst="rect">
              <a:avLst/>
            </a:prstGeom>
          </p:spPr>
          <p:txBody>
            <a:bodyPr anchor="ctr" rtlCol="false" tIns="50800" lIns="50800" bIns="50800" rIns="50800"/>
            <a:lstStyle/>
            <a:p>
              <a:pPr algn="ctr">
                <a:lnSpc>
                  <a:spcPts val="2566"/>
                </a:lnSpc>
              </a:pPr>
            </a:p>
          </p:txBody>
        </p:sp>
      </p:grpSp>
      <p:graphicFrame>
        <p:nvGraphicFramePr>
          <p:cNvPr name="Object 10" id="10"/>
          <p:cNvGraphicFramePr/>
          <p:nvPr/>
        </p:nvGraphicFramePr>
        <p:xfrm>
          <a:off x="534765" y="2472401"/>
          <a:ext cx="7753350" cy="5029200"/>
        </p:xfrm>
        <a:graphic>
          <a:graphicData uri="http://schemas.openxmlformats.org/presentationml/2006/ole">
            <p:oleObj imgW="9296400" imgH="65786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true" rot="0">
            <a:off x="605552" y="6506027"/>
            <a:ext cx="8542496" cy="1786158"/>
          </a:xfrm>
          <a:custGeom>
            <a:avLst/>
            <a:gdLst/>
            <a:ahLst/>
            <a:cxnLst/>
            <a:rect r="r" b="b" t="t" l="l"/>
            <a:pathLst>
              <a:path h="1786158" w="8542496">
                <a:moveTo>
                  <a:pt x="0" y="1786159"/>
                </a:moveTo>
                <a:lnTo>
                  <a:pt x="8542496" y="1786159"/>
                </a:lnTo>
                <a:lnTo>
                  <a:pt x="8542496" y="0"/>
                </a:lnTo>
                <a:lnTo>
                  <a:pt x="0" y="0"/>
                </a:lnTo>
                <a:lnTo>
                  <a:pt x="0" y="178615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3689" y="2087873"/>
            <a:ext cx="6759071" cy="4055443"/>
          </a:xfrm>
          <a:custGeom>
            <a:avLst/>
            <a:gdLst/>
            <a:ahLst/>
            <a:cxnLst/>
            <a:rect r="r" b="b" t="t" l="l"/>
            <a:pathLst>
              <a:path h="4055443" w="6759071">
                <a:moveTo>
                  <a:pt x="0" y="0"/>
                </a:moveTo>
                <a:lnTo>
                  <a:pt x="6759071" y="0"/>
                </a:lnTo>
                <a:lnTo>
                  <a:pt x="6759071" y="4055442"/>
                </a:lnTo>
                <a:lnTo>
                  <a:pt x="0" y="4055442"/>
                </a:lnTo>
                <a:lnTo>
                  <a:pt x="0" y="0"/>
                </a:lnTo>
                <a:close/>
              </a:path>
            </a:pathLst>
          </a:custGeom>
          <a:blipFill>
            <a:blip r:embed="rId4"/>
            <a:stretch>
              <a:fillRect l="0" t="0" r="0" b="0"/>
            </a:stretch>
          </a:blipFill>
        </p:spPr>
      </p:sp>
      <p:sp>
        <p:nvSpPr>
          <p:cNvPr name="TextBox 4" id="4"/>
          <p:cNvSpPr txBox="true"/>
          <p:nvPr/>
        </p:nvSpPr>
        <p:spPr>
          <a:xfrm rot="0">
            <a:off x="1453689" y="284954"/>
            <a:ext cx="6846222" cy="1660541"/>
          </a:xfrm>
          <a:prstGeom prst="rect">
            <a:avLst/>
          </a:prstGeom>
        </p:spPr>
        <p:txBody>
          <a:bodyPr anchor="t" rtlCol="false" tIns="0" lIns="0" bIns="0" rIns="0">
            <a:spAutoFit/>
          </a:bodyPr>
          <a:lstStyle/>
          <a:p>
            <a:pPr algn="ctr">
              <a:lnSpc>
                <a:spcPts val="6648"/>
              </a:lnSpc>
            </a:pPr>
            <a:r>
              <a:rPr lang="en-US" sz="4999">
                <a:solidFill>
                  <a:srgbClr val="000000"/>
                </a:solidFill>
                <a:latin typeface="League Spartan"/>
                <a:ea typeface="League Spartan"/>
                <a:cs typeface="League Spartan"/>
                <a:sym typeface="League Spartan"/>
              </a:rPr>
              <a:t>PREDICTORS INSIGHT STEP 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true" rot="0">
            <a:off x="605552" y="6506027"/>
            <a:ext cx="8542496" cy="1786158"/>
          </a:xfrm>
          <a:custGeom>
            <a:avLst/>
            <a:gdLst/>
            <a:ahLst/>
            <a:cxnLst/>
            <a:rect r="r" b="b" t="t" l="l"/>
            <a:pathLst>
              <a:path h="1786158" w="8542496">
                <a:moveTo>
                  <a:pt x="0" y="1786159"/>
                </a:moveTo>
                <a:lnTo>
                  <a:pt x="8542496" y="1786159"/>
                </a:lnTo>
                <a:lnTo>
                  <a:pt x="8542496" y="0"/>
                </a:lnTo>
                <a:lnTo>
                  <a:pt x="0" y="0"/>
                </a:lnTo>
                <a:lnTo>
                  <a:pt x="0" y="178615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926488" y="1789695"/>
            <a:ext cx="3993737" cy="4520504"/>
          </a:xfrm>
          <a:custGeom>
            <a:avLst/>
            <a:gdLst/>
            <a:ahLst/>
            <a:cxnLst/>
            <a:rect r="r" b="b" t="t" l="l"/>
            <a:pathLst>
              <a:path h="4520504" w="3993737">
                <a:moveTo>
                  <a:pt x="0" y="0"/>
                </a:moveTo>
                <a:lnTo>
                  <a:pt x="3993737" y="0"/>
                </a:lnTo>
                <a:lnTo>
                  <a:pt x="3993737" y="4520503"/>
                </a:lnTo>
                <a:lnTo>
                  <a:pt x="0" y="4520503"/>
                </a:lnTo>
                <a:lnTo>
                  <a:pt x="0" y="0"/>
                </a:lnTo>
                <a:close/>
              </a:path>
            </a:pathLst>
          </a:custGeom>
          <a:blipFill>
            <a:blip r:embed="rId4"/>
            <a:stretch>
              <a:fillRect l="0" t="-1968" r="0" b="-1968"/>
            </a:stretch>
          </a:blipFill>
        </p:spPr>
      </p:sp>
      <p:sp>
        <p:nvSpPr>
          <p:cNvPr name="TextBox 4" id="4"/>
          <p:cNvSpPr txBox="true"/>
          <p:nvPr/>
        </p:nvSpPr>
        <p:spPr>
          <a:xfrm rot="0">
            <a:off x="1453689" y="129154"/>
            <a:ext cx="6846222" cy="1660541"/>
          </a:xfrm>
          <a:prstGeom prst="rect">
            <a:avLst/>
          </a:prstGeom>
        </p:spPr>
        <p:txBody>
          <a:bodyPr anchor="t" rtlCol="false" tIns="0" lIns="0" bIns="0" rIns="0">
            <a:spAutoFit/>
          </a:bodyPr>
          <a:lstStyle/>
          <a:p>
            <a:pPr algn="ctr">
              <a:lnSpc>
                <a:spcPts val="6648"/>
              </a:lnSpc>
            </a:pPr>
            <a:r>
              <a:rPr lang="en-US" sz="4999">
                <a:solidFill>
                  <a:srgbClr val="000000"/>
                </a:solidFill>
                <a:latin typeface="League Spartan"/>
                <a:ea typeface="League Spartan"/>
                <a:cs typeface="League Spartan"/>
                <a:sym typeface="League Spartan"/>
              </a:rPr>
              <a:t>PREDICTORS INSIGHTS STEP 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false" flipV="false" rot="0">
            <a:off x="-614841" y="5935841"/>
            <a:ext cx="10776082" cy="3467939"/>
          </a:xfrm>
          <a:custGeom>
            <a:avLst/>
            <a:gdLst/>
            <a:ahLst/>
            <a:cxnLst/>
            <a:rect r="r" b="b" t="t" l="l"/>
            <a:pathLst>
              <a:path h="3467939" w="10776082">
                <a:moveTo>
                  <a:pt x="0" y="0"/>
                </a:moveTo>
                <a:lnTo>
                  <a:pt x="10776082" y="0"/>
                </a:lnTo>
                <a:lnTo>
                  <a:pt x="10776082" y="3467939"/>
                </a:lnTo>
                <a:lnTo>
                  <a:pt x="0" y="34679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425898" y="1221300"/>
            <a:ext cx="448925" cy="432627"/>
            <a:chOff x="0" y="0"/>
            <a:chExt cx="166269" cy="160232"/>
          </a:xfrm>
        </p:grpSpPr>
        <p:sp>
          <p:nvSpPr>
            <p:cNvPr name="Freeform 4" id="4"/>
            <p:cNvSpPr/>
            <p:nvPr/>
          </p:nvSpPr>
          <p:spPr>
            <a:xfrm flipH="false" flipV="false" rot="0">
              <a:off x="0" y="0"/>
              <a:ext cx="166269" cy="160232"/>
            </a:xfrm>
            <a:custGeom>
              <a:avLst/>
              <a:gdLst/>
              <a:ahLst/>
              <a:cxnLst/>
              <a:rect r="r" b="b" t="t" l="l"/>
              <a:pathLst>
                <a:path h="160232" w="166269">
                  <a:moveTo>
                    <a:pt x="80116" y="0"/>
                  </a:moveTo>
                  <a:lnTo>
                    <a:pt x="86152" y="0"/>
                  </a:lnTo>
                  <a:cubicBezTo>
                    <a:pt x="107401" y="0"/>
                    <a:pt x="127778" y="8441"/>
                    <a:pt x="142803" y="23465"/>
                  </a:cubicBezTo>
                  <a:cubicBezTo>
                    <a:pt x="157828" y="38490"/>
                    <a:pt x="166269" y="58868"/>
                    <a:pt x="166269" y="80116"/>
                  </a:cubicBezTo>
                  <a:lnTo>
                    <a:pt x="166269" y="80116"/>
                  </a:lnTo>
                  <a:cubicBezTo>
                    <a:pt x="166269" y="124363"/>
                    <a:pt x="130399" y="160232"/>
                    <a:pt x="86152" y="160232"/>
                  </a:cubicBezTo>
                  <a:lnTo>
                    <a:pt x="80116" y="160232"/>
                  </a:lnTo>
                  <a:cubicBezTo>
                    <a:pt x="58868" y="160232"/>
                    <a:pt x="38490" y="151791"/>
                    <a:pt x="23465" y="136767"/>
                  </a:cubicBezTo>
                  <a:cubicBezTo>
                    <a:pt x="8441" y="121742"/>
                    <a:pt x="0" y="101364"/>
                    <a:pt x="0" y="80116"/>
                  </a:cubicBezTo>
                  <a:lnTo>
                    <a:pt x="0" y="80116"/>
                  </a:lnTo>
                  <a:cubicBezTo>
                    <a:pt x="0" y="58868"/>
                    <a:pt x="8441" y="38490"/>
                    <a:pt x="23465" y="23465"/>
                  </a:cubicBezTo>
                  <a:cubicBezTo>
                    <a:pt x="38490" y="8441"/>
                    <a:pt x="58868" y="0"/>
                    <a:pt x="80116" y="0"/>
                  </a:cubicBezTo>
                  <a:close/>
                </a:path>
              </a:pathLst>
            </a:custGeom>
            <a:solidFill>
              <a:srgbClr val="334257"/>
            </a:solidFill>
          </p:spPr>
        </p:sp>
        <p:sp>
          <p:nvSpPr>
            <p:cNvPr name="TextBox 5" id="5"/>
            <p:cNvSpPr txBox="true"/>
            <p:nvPr/>
          </p:nvSpPr>
          <p:spPr>
            <a:xfrm>
              <a:off x="0" y="-47625"/>
              <a:ext cx="166269" cy="207857"/>
            </a:xfrm>
            <a:prstGeom prst="rect">
              <a:avLst/>
            </a:prstGeom>
          </p:spPr>
          <p:txBody>
            <a:bodyPr anchor="ctr" rtlCol="false" tIns="50800" lIns="50800" bIns="50800" rIns="50800"/>
            <a:lstStyle/>
            <a:p>
              <a:pPr algn="ctr">
                <a:lnSpc>
                  <a:spcPts val="2566"/>
                </a:lnSpc>
              </a:pPr>
            </a:p>
          </p:txBody>
        </p:sp>
      </p:grpSp>
      <p:grpSp>
        <p:nvGrpSpPr>
          <p:cNvPr name="Group 6" id="6"/>
          <p:cNvGrpSpPr/>
          <p:nvPr/>
        </p:nvGrpSpPr>
        <p:grpSpPr>
          <a:xfrm rot="0">
            <a:off x="878777" y="1221300"/>
            <a:ext cx="448925" cy="432627"/>
            <a:chOff x="0" y="0"/>
            <a:chExt cx="166269" cy="160232"/>
          </a:xfrm>
        </p:grpSpPr>
        <p:sp>
          <p:nvSpPr>
            <p:cNvPr name="Freeform 7" id="7"/>
            <p:cNvSpPr/>
            <p:nvPr/>
          </p:nvSpPr>
          <p:spPr>
            <a:xfrm flipH="false" flipV="false" rot="0">
              <a:off x="0" y="0"/>
              <a:ext cx="166269" cy="160232"/>
            </a:xfrm>
            <a:custGeom>
              <a:avLst/>
              <a:gdLst/>
              <a:ahLst/>
              <a:cxnLst/>
              <a:rect r="r" b="b" t="t" l="l"/>
              <a:pathLst>
                <a:path h="160232" w="166269">
                  <a:moveTo>
                    <a:pt x="80116" y="0"/>
                  </a:moveTo>
                  <a:lnTo>
                    <a:pt x="86152" y="0"/>
                  </a:lnTo>
                  <a:cubicBezTo>
                    <a:pt x="107401" y="0"/>
                    <a:pt x="127778" y="8441"/>
                    <a:pt x="142803" y="23465"/>
                  </a:cubicBezTo>
                  <a:cubicBezTo>
                    <a:pt x="157828" y="38490"/>
                    <a:pt x="166269" y="58868"/>
                    <a:pt x="166269" y="80116"/>
                  </a:cubicBezTo>
                  <a:lnTo>
                    <a:pt x="166269" y="80116"/>
                  </a:lnTo>
                  <a:cubicBezTo>
                    <a:pt x="166269" y="124363"/>
                    <a:pt x="130399" y="160232"/>
                    <a:pt x="86152" y="160232"/>
                  </a:cubicBezTo>
                  <a:lnTo>
                    <a:pt x="80116" y="160232"/>
                  </a:lnTo>
                  <a:cubicBezTo>
                    <a:pt x="58868" y="160232"/>
                    <a:pt x="38490" y="151791"/>
                    <a:pt x="23465" y="136767"/>
                  </a:cubicBezTo>
                  <a:cubicBezTo>
                    <a:pt x="8441" y="121742"/>
                    <a:pt x="0" y="101364"/>
                    <a:pt x="0" y="80116"/>
                  </a:cubicBezTo>
                  <a:lnTo>
                    <a:pt x="0" y="80116"/>
                  </a:lnTo>
                  <a:cubicBezTo>
                    <a:pt x="0" y="58868"/>
                    <a:pt x="8441" y="38490"/>
                    <a:pt x="23465" y="23465"/>
                  </a:cubicBezTo>
                  <a:cubicBezTo>
                    <a:pt x="38490" y="8441"/>
                    <a:pt x="58868" y="0"/>
                    <a:pt x="80116" y="0"/>
                  </a:cubicBezTo>
                  <a:close/>
                </a:path>
              </a:pathLst>
            </a:custGeom>
            <a:solidFill>
              <a:srgbClr val="334257"/>
            </a:solidFill>
          </p:spPr>
        </p:sp>
        <p:sp>
          <p:nvSpPr>
            <p:cNvPr name="TextBox 8" id="8"/>
            <p:cNvSpPr txBox="true"/>
            <p:nvPr/>
          </p:nvSpPr>
          <p:spPr>
            <a:xfrm>
              <a:off x="0" y="-47625"/>
              <a:ext cx="166269" cy="207857"/>
            </a:xfrm>
            <a:prstGeom prst="rect">
              <a:avLst/>
            </a:prstGeom>
          </p:spPr>
          <p:txBody>
            <a:bodyPr anchor="ctr" rtlCol="false" tIns="50800" lIns="50800" bIns="50800" rIns="50800"/>
            <a:lstStyle/>
            <a:p>
              <a:pPr algn="ctr">
                <a:lnSpc>
                  <a:spcPts val="2566"/>
                </a:lnSpc>
              </a:pPr>
            </a:p>
          </p:txBody>
        </p:sp>
      </p:grpSp>
      <p:sp>
        <p:nvSpPr>
          <p:cNvPr name="Freeform 9" id="9"/>
          <p:cNvSpPr/>
          <p:nvPr/>
        </p:nvSpPr>
        <p:spPr>
          <a:xfrm flipH="false" flipV="false" rot="0">
            <a:off x="2111037" y="2674968"/>
            <a:ext cx="1190540" cy="1190540"/>
          </a:xfrm>
          <a:custGeom>
            <a:avLst/>
            <a:gdLst/>
            <a:ahLst/>
            <a:cxnLst/>
            <a:rect r="r" b="b" t="t" l="l"/>
            <a:pathLst>
              <a:path h="1190540" w="1190540">
                <a:moveTo>
                  <a:pt x="0" y="0"/>
                </a:moveTo>
                <a:lnTo>
                  <a:pt x="1190539" y="0"/>
                </a:lnTo>
                <a:lnTo>
                  <a:pt x="1190539" y="1190539"/>
                </a:lnTo>
                <a:lnTo>
                  <a:pt x="0" y="11905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4483326" y="2674968"/>
            <a:ext cx="1276308" cy="1452705"/>
          </a:xfrm>
          <a:custGeom>
            <a:avLst/>
            <a:gdLst/>
            <a:ahLst/>
            <a:cxnLst/>
            <a:rect r="r" b="b" t="t" l="l"/>
            <a:pathLst>
              <a:path h="1452705" w="1276308">
                <a:moveTo>
                  <a:pt x="0" y="0"/>
                </a:moveTo>
                <a:lnTo>
                  <a:pt x="1276308" y="0"/>
                </a:lnTo>
                <a:lnTo>
                  <a:pt x="1276308" y="1452705"/>
                </a:lnTo>
                <a:lnTo>
                  <a:pt x="0" y="1452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6866543" y="2642686"/>
            <a:ext cx="1844479" cy="1512472"/>
          </a:xfrm>
          <a:custGeom>
            <a:avLst/>
            <a:gdLst/>
            <a:ahLst/>
            <a:cxnLst/>
            <a:rect r="r" b="b" t="t" l="l"/>
            <a:pathLst>
              <a:path h="1512472" w="1844479">
                <a:moveTo>
                  <a:pt x="0" y="0"/>
                </a:moveTo>
                <a:lnTo>
                  <a:pt x="1844479" y="0"/>
                </a:lnTo>
                <a:lnTo>
                  <a:pt x="1844479" y="1512472"/>
                </a:lnTo>
                <a:lnTo>
                  <a:pt x="0" y="151247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7806750" y="5184644"/>
            <a:ext cx="340826" cy="557900"/>
          </a:xfrm>
          <a:custGeom>
            <a:avLst/>
            <a:gdLst/>
            <a:ahLst/>
            <a:cxnLst/>
            <a:rect r="r" b="b" t="t" l="l"/>
            <a:pathLst>
              <a:path h="557900" w="340826">
                <a:moveTo>
                  <a:pt x="0" y="0"/>
                </a:moveTo>
                <a:lnTo>
                  <a:pt x="340827" y="0"/>
                </a:lnTo>
                <a:lnTo>
                  <a:pt x="340827" y="557900"/>
                </a:lnTo>
                <a:lnTo>
                  <a:pt x="0" y="5579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2428902" y="5217944"/>
            <a:ext cx="337243" cy="524601"/>
          </a:xfrm>
          <a:custGeom>
            <a:avLst/>
            <a:gdLst/>
            <a:ahLst/>
            <a:cxnLst/>
            <a:rect r="r" b="b" t="t" l="l"/>
            <a:pathLst>
              <a:path h="524601" w="337243">
                <a:moveTo>
                  <a:pt x="0" y="0"/>
                </a:moveTo>
                <a:lnTo>
                  <a:pt x="337243" y="0"/>
                </a:lnTo>
                <a:lnTo>
                  <a:pt x="337243" y="524600"/>
                </a:lnTo>
                <a:lnTo>
                  <a:pt x="0" y="524600"/>
                </a:lnTo>
                <a:lnTo>
                  <a:pt x="0" y="0"/>
                </a:lnTo>
                <a:close/>
              </a:path>
            </a:pathLst>
          </a:custGeom>
          <a:blipFill>
            <a:blip r:embed="rId12"/>
            <a:stretch>
              <a:fillRect l="0" t="0" r="0" b="0"/>
            </a:stretch>
          </a:blipFill>
        </p:spPr>
      </p:sp>
      <p:sp>
        <p:nvSpPr>
          <p:cNvPr name="TextBox 14" id="14"/>
          <p:cNvSpPr txBox="true"/>
          <p:nvPr/>
        </p:nvSpPr>
        <p:spPr>
          <a:xfrm rot="0">
            <a:off x="1964818" y="574155"/>
            <a:ext cx="5823965" cy="1660541"/>
          </a:xfrm>
          <a:prstGeom prst="rect">
            <a:avLst/>
          </a:prstGeom>
        </p:spPr>
        <p:txBody>
          <a:bodyPr anchor="t" rtlCol="false" tIns="0" lIns="0" bIns="0" rIns="0">
            <a:spAutoFit/>
          </a:bodyPr>
          <a:lstStyle/>
          <a:p>
            <a:pPr algn="ctr">
              <a:lnSpc>
                <a:spcPts val="6648"/>
              </a:lnSpc>
            </a:pPr>
            <a:r>
              <a:rPr lang="en-US" sz="4999">
                <a:solidFill>
                  <a:srgbClr val="000000"/>
                </a:solidFill>
                <a:latin typeface="League Spartan"/>
                <a:ea typeface="League Spartan"/>
                <a:cs typeface="League Spartan"/>
                <a:sym typeface="League Spartan"/>
              </a:rPr>
              <a:t>KEY TAKEAWAYS</a:t>
            </a:r>
          </a:p>
        </p:txBody>
      </p:sp>
      <p:sp>
        <p:nvSpPr>
          <p:cNvPr name="TextBox 15" id="15"/>
          <p:cNvSpPr txBox="true"/>
          <p:nvPr/>
        </p:nvSpPr>
        <p:spPr>
          <a:xfrm rot="0">
            <a:off x="1523173" y="4107533"/>
            <a:ext cx="2148701" cy="1388110"/>
          </a:xfrm>
          <a:prstGeom prst="rect">
            <a:avLst/>
          </a:prstGeom>
        </p:spPr>
        <p:txBody>
          <a:bodyPr anchor="t" rtlCol="false" tIns="0" lIns="0" bIns="0" rIns="0">
            <a:spAutoFit/>
          </a:bodyPr>
          <a:lstStyle/>
          <a:p>
            <a:pPr algn="ctr">
              <a:lnSpc>
                <a:spcPts val="2240"/>
              </a:lnSpc>
            </a:pPr>
            <a:r>
              <a:rPr lang="en-US" sz="1600">
                <a:solidFill>
                  <a:srgbClr val="000000"/>
                </a:solidFill>
                <a:latin typeface="Poppins"/>
                <a:ea typeface="Poppins"/>
                <a:cs typeface="Poppins"/>
                <a:sym typeface="Poppins"/>
              </a:rPr>
              <a:t>Payment history on time </a:t>
            </a:r>
          </a:p>
          <a:p>
            <a:pPr algn="ctr">
              <a:lnSpc>
                <a:spcPts val="2240"/>
              </a:lnSpc>
            </a:pPr>
            <a:r>
              <a:rPr lang="en-US" sz="1600">
                <a:solidFill>
                  <a:srgbClr val="000000"/>
                </a:solidFill>
                <a:latin typeface="Poppins"/>
                <a:ea typeface="Poppins"/>
                <a:cs typeface="Poppins"/>
                <a:sym typeface="Poppins"/>
              </a:rPr>
              <a:t>220% </a:t>
            </a:r>
          </a:p>
          <a:p>
            <a:pPr algn="ctr">
              <a:lnSpc>
                <a:spcPts val="2240"/>
              </a:lnSpc>
            </a:pPr>
            <a:r>
              <a:rPr lang="en-US" sz="1600">
                <a:solidFill>
                  <a:srgbClr val="000000"/>
                </a:solidFill>
                <a:latin typeface="Poppins"/>
                <a:ea typeface="Poppins"/>
                <a:cs typeface="Poppins"/>
                <a:sym typeface="Poppins"/>
              </a:rPr>
              <a:t>of recovery </a:t>
            </a:r>
          </a:p>
          <a:p>
            <a:pPr algn="ctr">
              <a:lnSpc>
                <a:spcPts val="2240"/>
              </a:lnSpc>
            </a:pPr>
          </a:p>
        </p:txBody>
      </p:sp>
      <p:sp>
        <p:nvSpPr>
          <p:cNvPr name="TextBox 16" id="16"/>
          <p:cNvSpPr txBox="true"/>
          <p:nvPr/>
        </p:nvSpPr>
        <p:spPr>
          <a:xfrm rot="0">
            <a:off x="3930175" y="4282773"/>
            <a:ext cx="2230493" cy="1111885"/>
          </a:xfrm>
          <a:prstGeom prst="rect">
            <a:avLst/>
          </a:prstGeom>
        </p:spPr>
        <p:txBody>
          <a:bodyPr anchor="t" rtlCol="false" tIns="0" lIns="0" bIns="0" rIns="0">
            <a:spAutoFit/>
          </a:bodyPr>
          <a:lstStyle/>
          <a:p>
            <a:pPr algn="ctr">
              <a:lnSpc>
                <a:spcPts val="2239"/>
              </a:lnSpc>
            </a:pPr>
            <a:r>
              <a:rPr lang="en-US" sz="1599">
                <a:solidFill>
                  <a:srgbClr val="000000"/>
                </a:solidFill>
                <a:latin typeface="Poppins"/>
                <a:ea typeface="Poppins"/>
                <a:cs typeface="Poppins"/>
                <a:sym typeface="Poppins"/>
              </a:rPr>
              <a:t>Settlement offer as collection method 110%    of recovery </a:t>
            </a:r>
          </a:p>
          <a:p>
            <a:pPr algn="ctr">
              <a:lnSpc>
                <a:spcPts val="2239"/>
              </a:lnSpc>
            </a:pPr>
          </a:p>
        </p:txBody>
      </p:sp>
      <p:sp>
        <p:nvSpPr>
          <p:cNvPr name="TextBox 17" id="17"/>
          <p:cNvSpPr txBox="true"/>
          <p:nvPr/>
        </p:nvSpPr>
        <p:spPr>
          <a:xfrm rot="0">
            <a:off x="6963141" y="4311348"/>
            <a:ext cx="1687220" cy="733425"/>
          </a:xfrm>
          <a:prstGeom prst="rect">
            <a:avLst/>
          </a:prstGeom>
        </p:spPr>
        <p:txBody>
          <a:bodyPr anchor="t" rtlCol="false" tIns="0" lIns="0" bIns="0" rIns="0">
            <a:spAutoFit/>
          </a:bodyPr>
          <a:lstStyle/>
          <a:p>
            <a:pPr algn="ctr">
              <a:lnSpc>
                <a:spcPts val="1920"/>
              </a:lnSpc>
            </a:pPr>
            <a:r>
              <a:rPr lang="en-US" sz="1600">
                <a:solidFill>
                  <a:srgbClr val="000000"/>
                </a:solidFill>
                <a:latin typeface="Poppins"/>
                <a:ea typeface="Poppins"/>
                <a:cs typeface="Poppins"/>
                <a:sym typeface="Poppins"/>
              </a:rPr>
              <a:t>Business loan type</a:t>
            </a:r>
          </a:p>
          <a:p>
            <a:pPr algn="ctr">
              <a:lnSpc>
                <a:spcPts val="1920"/>
              </a:lnSpc>
            </a:pPr>
            <a:r>
              <a:rPr lang="en-US" sz="1600">
                <a:solidFill>
                  <a:srgbClr val="000000"/>
                </a:solidFill>
                <a:latin typeface="Poppins"/>
                <a:ea typeface="Poppins"/>
                <a:cs typeface="Poppins"/>
                <a:sym typeface="Poppins"/>
              </a:rPr>
              <a:t>88 % of recovery</a:t>
            </a:r>
          </a:p>
        </p:txBody>
      </p:sp>
      <p:sp>
        <p:nvSpPr>
          <p:cNvPr name="Freeform 18" id="18"/>
          <p:cNvSpPr/>
          <p:nvPr/>
        </p:nvSpPr>
        <p:spPr>
          <a:xfrm flipH="false" flipV="false" rot="0">
            <a:off x="4876800" y="5217944"/>
            <a:ext cx="337243" cy="524601"/>
          </a:xfrm>
          <a:custGeom>
            <a:avLst/>
            <a:gdLst/>
            <a:ahLst/>
            <a:cxnLst/>
            <a:rect r="r" b="b" t="t" l="l"/>
            <a:pathLst>
              <a:path h="524601" w="337243">
                <a:moveTo>
                  <a:pt x="0" y="0"/>
                </a:moveTo>
                <a:lnTo>
                  <a:pt x="337243" y="0"/>
                </a:lnTo>
                <a:lnTo>
                  <a:pt x="337243" y="524600"/>
                </a:lnTo>
                <a:lnTo>
                  <a:pt x="0" y="524600"/>
                </a:lnTo>
                <a:lnTo>
                  <a:pt x="0" y="0"/>
                </a:lnTo>
                <a:close/>
              </a:path>
            </a:pathLst>
          </a:custGeom>
          <a:blipFill>
            <a:blip r:embed="rId1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Freeform 2" id="2"/>
          <p:cNvSpPr/>
          <p:nvPr/>
        </p:nvSpPr>
        <p:spPr>
          <a:xfrm flipH="true" flipV="false" rot="-5400000">
            <a:off x="4127379" y="4019274"/>
            <a:ext cx="10776082" cy="3467939"/>
          </a:xfrm>
          <a:custGeom>
            <a:avLst/>
            <a:gdLst/>
            <a:ahLst/>
            <a:cxnLst/>
            <a:rect r="r" b="b" t="t" l="l"/>
            <a:pathLst>
              <a:path h="3467939" w="10776082">
                <a:moveTo>
                  <a:pt x="10776082" y="0"/>
                </a:moveTo>
                <a:lnTo>
                  <a:pt x="0" y="0"/>
                </a:lnTo>
                <a:lnTo>
                  <a:pt x="0" y="3467939"/>
                </a:lnTo>
                <a:lnTo>
                  <a:pt x="10776082" y="3467939"/>
                </a:lnTo>
                <a:lnTo>
                  <a:pt x="107760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934631" y="-612049"/>
            <a:ext cx="4486050" cy="44860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t="0" r="-25046" b="0"/>
              </a:stretch>
            </a:blipFill>
            <a:ln cap="sq">
              <a:noFill/>
              <a:prstDash val="solid"/>
              <a:miter/>
            </a:ln>
          </p:spPr>
        </p:sp>
      </p:grpSp>
      <p:grpSp>
        <p:nvGrpSpPr>
          <p:cNvPr name="Group 5" id="5"/>
          <p:cNvGrpSpPr/>
          <p:nvPr/>
        </p:nvGrpSpPr>
        <p:grpSpPr>
          <a:xfrm rot="0">
            <a:off x="1027271" y="2916664"/>
            <a:ext cx="5384373" cy="1142795"/>
            <a:chOff x="0" y="0"/>
            <a:chExt cx="2805303" cy="595406"/>
          </a:xfrm>
        </p:grpSpPr>
        <p:sp>
          <p:nvSpPr>
            <p:cNvPr name="Freeform 6" id="6"/>
            <p:cNvSpPr/>
            <p:nvPr/>
          </p:nvSpPr>
          <p:spPr>
            <a:xfrm flipH="false" flipV="false" rot="0">
              <a:off x="0" y="0"/>
              <a:ext cx="2805303" cy="595406"/>
            </a:xfrm>
            <a:custGeom>
              <a:avLst/>
              <a:gdLst/>
              <a:ahLst/>
              <a:cxnLst/>
              <a:rect r="r" b="b" t="t" l="l"/>
              <a:pathLst>
                <a:path h="595406" w="2805303">
                  <a:moveTo>
                    <a:pt x="51763" y="0"/>
                  </a:moveTo>
                  <a:lnTo>
                    <a:pt x="2753541" y="0"/>
                  </a:lnTo>
                  <a:cubicBezTo>
                    <a:pt x="2767269" y="0"/>
                    <a:pt x="2780435" y="5454"/>
                    <a:pt x="2790142" y="15161"/>
                  </a:cubicBezTo>
                  <a:cubicBezTo>
                    <a:pt x="2799850" y="24868"/>
                    <a:pt x="2805303" y="38034"/>
                    <a:pt x="2805303" y="51763"/>
                  </a:cubicBezTo>
                  <a:lnTo>
                    <a:pt x="2805303" y="543643"/>
                  </a:lnTo>
                  <a:cubicBezTo>
                    <a:pt x="2805303" y="557371"/>
                    <a:pt x="2799850" y="570537"/>
                    <a:pt x="2790142" y="580245"/>
                  </a:cubicBezTo>
                  <a:cubicBezTo>
                    <a:pt x="2780435" y="589952"/>
                    <a:pt x="2767269" y="595406"/>
                    <a:pt x="2753541" y="595406"/>
                  </a:cubicBezTo>
                  <a:lnTo>
                    <a:pt x="51763" y="595406"/>
                  </a:lnTo>
                  <a:cubicBezTo>
                    <a:pt x="38034" y="595406"/>
                    <a:pt x="24868" y="589952"/>
                    <a:pt x="15161" y="580245"/>
                  </a:cubicBezTo>
                  <a:cubicBezTo>
                    <a:pt x="5454" y="570537"/>
                    <a:pt x="0" y="557371"/>
                    <a:pt x="0" y="543643"/>
                  </a:cubicBezTo>
                  <a:lnTo>
                    <a:pt x="0" y="51763"/>
                  </a:lnTo>
                  <a:cubicBezTo>
                    <a:pt x="0" y="38034"/>
                    <a:pt x="5454" y="24868"/>
                    <a:pt x="15161" y="15161"/>
                  </a:cubicBezTo>
                  <a:cubicBezTo>
                    <a:pt x="24868" y="5454"/>
                    <a:pt x="38034" y="0"/>
                    <a:pt x="51763" y="0"/>
                  </a:cubicBezTo>
                  <a:close/>
                </a:path>
              </a:pathLst>
            </a:custGeom>
            <a:solidFill>
              <a:srgbClr val="334257"/>
            </a:solidFill>
          </p:spPr>
        </p:sp>
        <p:sp>
          <p:nvSpPr>
            <p:cNvPr name="TextBox 7" id="7"/>
            <p:cNvSpPr txBox="true"/>
            <p:nvPr/>
          </p:nvSpPr>
          <p:spPr>
            <a:xfrm>
              <a:off x="0" y="-47625"/>
              <a:ext cx="2805303" cy="643031"/>
            </a:xfrm>
            <a:prstGeom prst="rect">
              <a:avLst/>
            </a:prstGeom>
          </p:spPr>
          <p:txBody>
            <a:bodyPr anchor="ctr" rtlCol="false" tIns="50800" lIns="50800" bIns="50800" rIns="50800"/>
            <a:lstStyle/>
            <a:p>
              <a:pPr algn="ctr">
                <a:lnSpc>
                  <a:spcPts val="2566"/>
                </a:lnSpc>
              </a:pPr>
            </a:p>
          </p:txBody>
        </p:sp>
      </p:grpSp>
      <p:grpSp>
        <p:nvGrpSpPr>
          <p:cNvPr name="Group 8" id="8"/>
          <p:cNvGrpSpPr/>
          <p:nvPr/>
        </p:nvGrpSpPr>
        <p:grpSpPr>
          <a:xfrm rot="0">
            <a:off x="326854" y="3010456"/>
            <a:ext cx="1043853" cy="955209"/>
            <a:chOff x="0" y="0"/>
            <a:chExt cx="956010" cy="874826"/>
          </a:xfrm>
        </p:grpSpPr>
        <p:sp>
          <p:nvSpPr>
            <p:cNvPr name="Freeform 9" id="9"/>
            <p:cNvSpPr/>
            <p:nvPr/>
          </p:nvSpPr>
          <p:spPr>
            <a:xfrm flipH="false" flipV="false" rot="0">
              <a:off x="0" y="0"/>
              <a:ext cx="956010" cy="874826"/>
            </a:xfrm>
            <a:custGeom>
              <a:avLst/>
              <a:gdLst/>
              <a:ahLst/>
              <a:cxnLst/>
              <a:rect r="r" b="b" t="t" l="l"/>
              <a:pathLst>
                <a:path h="874826" w="956010">
                  <a:moveTo>
                    <a:pt x="717885" y="0"/>
                  </a:moveTo>
                  <a:lnTo>
                    <a:pt x="956010" y="238125"/>
                  </a:lnTo>
                  <a:lnTo>
                    <a:pt x="956010" y="636701"/>
                  </a:lnTo>
                  <a:lnTo>
                    <a:pt x="717885" y="874826"/>
                  </a:lnTo>
                  <a:lnTo>
                    <a:pt x="238125" y="874826"/>
                  </a:lnTo>
                  <a:lnTo>
                    <a:pt x="0" y="636701"/>
                  </a:lnTo>
                  <a:lnTo>
                    <a:pt x="0" y="238125"/>
                  </a:lnTo>
                  <a:lnTo>
                    <a:pt x="238125" y="0"/>
                  </a:lnTo>
                  <a:lnTo>
                    <a:pt x="717885" y="0"/>
                  </a:lnTo>
                  <a:close/>
                </a:path>
              </a:pathLst>
            </a:custGeom>
            <a:solidFill>
              <a:srgbClr val="548CA8"/>
            </a:solidFill>
            <a:ln w="57150" cap="sq">
              <a:solidFill>
                <a:srgbClr val="EEEEEE"/>
              </a:solidFill>
              <a:prstDash val="solid"/>
              <a:miter/>
            </a:ln>
          </p:spPr>
        </p:sp>
        <p:sp>
          <p:nvSpPr>
            <p:cNvPr name="TextBox 10" id="10"/>
            <p:cNvSpPr txBox="true"/>
            <p:nvPr/>
          </p:nvSpPr>
          <p:spPr>
            <a:xfrm>
              <a:off x="63500" y="15875"/>
              <a:ext cx="829010" cy="795451"/>
            </a:xfrm>
            <a:prstGeom prst="rect">
              <a:avLst/>
            </a:prstGeom>
          </p:spPr>
          <p:txBody>
            <a:bodyPr anchor="ctr" rtlCol="false" tIns="50800" lIns="50800" bIns="50800" rIns="50800"/>
            <a:lstStyle/>
            <a:p>
              <a:pPr algn="ctr">
                <a:lnSpc>
                  <a:spcPts val="2566"/>
                </a:lnSpc>
              </a:pPr>
            </a:p>
          </p:txBody>
        </p:sp>
      </p:grpSp>
      <p:grpSp>
        <p:nvGrpSpPr>
          <p:cNvPr name="Group 11" id="11"/>
          <p:cNvGrpSpPr/>
          <p:nvPr/>
        </p:nvGrpSpPr>
        <p:grpSpPr>
          <a:xfrm rot="0">
            <a:off x="1187888" y="4292023"/>
            <a:ext cx="6012886" cy="1268070"/>
            <a:chOff x="0" y="0"/>
            <a:chExt cx="3132764" cy="660675"/>
          </a:xfrm>
        </p:grpSpPr>
        <p:sp>
          <p:nvSpPr>
            <p:cNvPr name="Freeform 12" id="12"/>
            <p:cNvSpPr/>
            <p:nvPr/>
          </p:nvSpPr>
          <p:spPr>
            <a:xfrm flipH="false" flipV="false" rot="0">
              <a:off x="0" y="0"/>
              <a:ext cx="3132764" cy="660675"/>
            </a:xfrm>
            <a:custGeom>
              <a:avLst/>
              <a:gdLst/>
              <a:ahLst/>
              <a:cxnLst/>
              <a:rect r="r" b="b" t="t" l="l"/>
              <a:pathLst>
                <a:path h="660675" w="3132764">
                  <a:moveTo>
                    <a:pt x="46352" y="0"/>
                  </a:moveTo>
                  <a:lnTo>
                    <a:pt x="3086412" y="0"/>
                  </a:lnTo>
                  <a:cubicBezTo>
                    <a:pt x="3098705" y="0"/>
                    <a:pt x="3110495" y="4883"/>
                    <a:pt x="3119188" y="13576"/>
                  </a:cubicBezTo>
                  <a:cubicBezTo>
                    <a:pt x="3127881" y="22269"/>
                    <a:pt x="3132764" y="34059"/>
                    <a:pt x="3132764" y="46352"/>
                  </a:cubicBezTo>
                  <a:lnTo>
                    <a:pt x="3132764" y="614323"/>
                  </a:lnTo>
                  <a:cubicBezTo>
                    <a:pt x="3132764" y="639923"/>
                    <a:pt x="3112012" y="660675"/>
                    <a:pt x="3086412" y="660675"/>
                  </a:cubicBezTo>
                  <a:lnTo>
                    <a:pt x="46352" y="660675"/>
                  </a:lnTo>
                  <a:cubicBezTo>
                    <a:pt x="20752" y="660675"/>
                    <a:pt x="0" y="639923"/>
                    <a:pt x="0" y="614323"/>
                  </a:cubicBezTo>
                  <a:lnTo>
                    <a:pt x="0" y="46352"/>
                  </a:lnTo>
                  <a:cubicBezTo>
                    <a:pt x="0" y="20752"/>
                    <a:pt x="20752" y="0"/>
                    <a:pt x="46352" y="0"/>
                  </a:cubicBezTo>
                  <a:close/>
                </a:path>
              </a:pathLst>
            </a:custGeom>
            <a:solidFill>
              <a:srgbClr val="334257"/>
            </a:solidFill>
          </p:spPr>
        </p:sp>
        <p:sp>
          <p:nvSpPr>
            <p:cNvPr name="TextBox 13" id="13"/>
            <p:cNvSpPr txBox="true"/>
            <p:nvPr/>
          </p:nvSpPr>
          <p:spPr>
            <a:xfrm>
              <a:off x="0" y="-47625"/>
              <a:ext cx="3132764" cy="708300"/>
            </a:xfrm>
            <a:prstGeom prst="rect">
              <a:avLst/>
            </a:prstGeom>
          </p:spPr>
          <p:txBody>
            <a:bodyPr anchor="ctr" rtlCol="false" tIns="50800" lIns="50800" bIns="50800" rIns="50800"/>
            <a:lstStyle/>
            <a:p>
              <a:pPr algn="ctr">
                <a:lnSpc>
                  <a:spcPts val="2566"/>
                </a:lnSpc>
              </a:pPr>
            </a:p>
          </p:txBody>
        </p:sp>
      </p:grpSp>
      <p:grpSp>
        <p:nvGrpSpPr>
          <p:cNvPr name="Group 14" id="14"/>
          <p:cNvGrpSpPr/>
          <p:nvPr/>
        </p:nvGrpSpPr>
        <p:grpSpPr>
          <a:xfrm rot="0">
            <a:off x="505344" y="4448453"/>
            <a:ext cx="1043853" cy="955209"/>
            <a:chOff x="0" y="0"/>
            <a:chExt cx="956010" cy="874826"/>
          </a:xfrm>
        </p:grpSpPr>
        <p:sp>
          <p:nvSpPr>
            <p:cNvPr name="Freeform 15" id="15"/>
            <p:cNvSpPr/>
            <p:nvPr/>
          </p:nvSpPr>
          <p:spPr>
            <a:xfrm flipH="false" flipV="false" rot="0">
              <a:off x="0" y="0"/>
              <a:ext cx="956010" cy="874826"/>
            </a:xfrm>
            <a:custGeom>
              <a:avLst/>
              <a:gdLst/>
              <a:ahLst/>
              <a:cxnLst/>
              <a:rect r="r" b="b" t="t" l="l"/>
              <a:pathLst>
                <a:path h="874826" w="956010">
                  <a:moveTo>
                    <a:pt x="717885" y="0"/>
                  </a:moveTo>
                  <a:lnTo>
                    <a:pt x="956010" y="238125"/>
                  </a:lnTo>
                  <a:lnTo>
                    <a:pt x="956010" y="636701"/>
                  </a:lnTo>
                  <a:lnTo>
                    <a:pt x="717885" y="874826"/>
                  </a:lnTo>
                  <a:lnTo>
                    <a:pt x="238125" y="874826"/>
                  </a:lnTo>
                  <a:lnTo>
                    <a:pt x="0" y="636701"/>
                  </a:lnTo>
                  <a:lnTo>
                    <a:pt x="0" y="238125"/>
                  </a:lnTo>
                  <a:lnTo>
                    <a:pt x="238125" y="0"/>
                  </a:lnTo>
                  <a:lnTo>
                    <a:pt x="717885" y="0"/>
                  </a:lnTo>
                  <a:close/>
                </a:path>
              </a:pathLst>
            </a:custGeom>
            <a:solidFill>
              <a:srgbClr val="548CA8"/>
            </a:solidFill>
            <a:ln w="57150" cap="sq">
              <a:solidFill>
                <a:srgbClr val="EEEEEE"/>
              </a:solidFill>
              <a:prstDash val="solid"/>
              <a:miter/>
            </a:ln>
          </p:spPr>
        </p:sp>
        <p:sp>
          <p:nvSpPr>
            <p:cNvPr name="TextBox 16" id="16"/>
            <p:cNvSpPr txBox="true"/>
            <p:nvPr/>
          </p:nvSpPr>
          <p:spPr>
            <a:xfrm>
              <a:off x="63500" y="15875"/>
              <a:ext cx="829010" cy="795451"/>
            </a:xfrm>
            <a:prstGeom prst="rect">
              <a:avLst/>
            </a:prstGeom>
          </p:spPr>
          <p:txBody>
            <a:bodyPr anchor="ctr" rtlCol="false" tIns="50800" lIns="50800" bIns="50800" rIns="50800"/>
            <a:lstStyle/>
            <a:p>
              <a:pPr algn="ctr">
                <a:lnSpc>
                  <a:spcPts val="2566"/>
                </a:lnSpc>
              </a:pPr>
            </a:p>
          </p:txBody>
        </p:sp>
      </p:grpSp>
      <p:grpSp>
        <p:nvGrpSpPr>
          <p:cNvPr name="Group 17" id="17"/>
          <p:cNvGrpSpPr/>
          <p:nvPr/>
        </p:nvGrpSpPr>
        <p:grpSpPr>
          <a:xfrm rot="0">
            <a:off x="1370707" y="5886450"/>
            <a:ext cx="6205346" cy="1190625"/>
            <a:chOff x="0" y="0"/>
            <a:chExt cx="3233037" cy="620326"/>
          </a:xfrm>
        </p:grpSpPr>
        <p:sp>
          <p:nvSpPr>
            <p:cNvPr name="Freeform 18" id="18"/>
            <p:cNvSpPr/>
            <p:nvPr/>
          </p:nvSpPr>
          <p:spPr>
            <a:xfrm flipH="false" flipV="false" rot="0">
              <a:off x="0" y="0"/>
              <a:ext cx="3233037" cy="620326"/>
            </a:xfrm>
            <a:custGeom>
              <a:avLst/>
              <a:gdLst/>
              <a:ahLst/>
              <a:cxnLst/>
              <a:rect r="r" b="b" t="t" l="l"/>
              <a:pathLst>
                <a:path h="620326" w="3233037">
                  <a:moveTo>
                    <a:pt x="44914" y="0"/>
                  </a:moveTo>
                  <a:lnTo>
                    <a:pt x="3188123" y="0"/>
                  </a:lnTo>
                  <a:cubicBezTo>
                    <a:pt x="3200035" y="0"/>
                    <a:pt x="3211459" y="4732"/>
                    <a:pt x="3219882" y="13155"/>
                  </a:cubicBezTo>
                  <a:cubicBezTo>
                    <a:pt x="3228305" y="21578"/>
                    <a:pt x="3233037" y="33002"/>
                    <a:pt x="3233037" y="44914"/>
                  </a:cubicBezTo>
                  <a:lnTo>
                    <a:pt x="3233037" y="575411"/>
                  </a:lnTo>
                  <a:cubicBezTo>
                    <a:pt x="3233037" y="600217"/>
                    <a:pt x="3212928" y="620326"/>
                    <a:pt x="3188123" y="620326"/>
                  </a:cubicBezTo>
                  <a:lnTo>
                    <a:pt x="44914" y="620326"/>
                  </a:lnTo>
                  <a:cubicBezTo>
                    <a:pt x="20109" y="620326"/>
                    <a:pt x="0" y="600217"/>
                    <a:pt x="0" y="575411"/>
                  </a:cubicBezTo>
                  <a:lnTo>
                    <a:pt x="0" y="44914"/>
                  </a:lnTo>
                  <a:cubicBezTo>
                    <a:pt x="0" y="20109"/>
                    <a:pt x="20109" y="0"/>
                    <a:pt x="44914" y="0"/>
                  </a:cubicBezTo>
                  <a:close/>
                </a:path>
              </a:pathLst>
            </a:custGeom>
            <a:solidFill>
              <a:srgbClr val="334257"/>
            </a:solidFill>
          </p:spPr>
        </p:sp>
        <p:sp>
          <p:nvSpPr>
            <p:cNvPr name="TextBox 19" id="19"/>
            <p:cNvSpPr txBox="true"/>
            <p:nvPr/>
          </p:nvSpPr>
          <p:spPr>
            <a:xfrm>
              <a:off x="0" y="-47625"/>
              <a:ext cx="3233037" cy="667951"/>
            </a:xfrm>
            <a:prstGeom prst="rect">
              <a:avLst/>
            </a:prstGeom>
          </p:spPr>
          <p:txBody>
            <a:bodyPr anchor="ctr" rtlCol="false" tIns="50800" lIns="50800" bIns="50800" rIns="50800"/>
            <a:lstStyle/>
            <a:p>
              <a:pPr algn="ctr">
                <a:lnSpc>
                  <a:spcPts val="2566"/>
                </a:lnSpc>
              </a:pPr>
            </a:p>
          </p:txBody>
        </p:sp>
      </p:grpSp>
      <p:grpSp>
        <p:nvGrpSpPr>
          <p:cNvPr name="Group 20" id="20"/>
          <p:cNvGrpSpPr/>
          <p:nvPr/>
        </p:nvGrpSpPr>
        <p:grpSpPr>
          <a:xfrm rot="0">
            <a:off x="665961" y="5969731"/>
            <a:ext cx="1043853" cy="955209"/>
            <a:chOff x="0" y="0"/>
            <a:chExt cx="956010" cy="874826"/>
          </a:xfrm>
        </p:grpSpPr>
        <p:sp>
          <p:nvSpPr>
            <p:cNvPr name="Freeform 21" id="21"/>
            <p:cNvSpPr/>
            <p:nvPr/>
          </p:nvSpPr>
          <p:spPr>
            <a:xfrm flipH="false" flipV="false" rot="0">
              <a:off x="0" y="0"/>
              <a:ext cx="956010" cy="874826"/>
            </a:xfrm>
            <a:custGeom>
              <a:avLst/>
              <a:gdLst/>
              <a:ahLst/>
              <a:cxnLst/>
              <a:rect r="r" b="b" t="t" l="l"/>
              <a:pathLst>
                <a:path h="874826" w="956010">
                  <a:moveTo>
                    <a:pt x="717885" y="0"/>
                  </a:moveTo>
                  <a:lnTo>
                    <a:pt x="956010" y="238125"/>
                  </a:lnTo>
                  <a:lnTo>
                    <a:pt x="956010" y="636701"/>
                  </a:lnTo>
                  <a:lnTo>
                    <a:pt x="717885" y="874826"/>
                  </a:lnTo>
                  <a:lnTo>
                    <a:pt x="238125" y="874826"/>
                  </a:lnTo>
                  <a:lnTo>
                    <a:pt x="0" y="636701"/>
                  </a:lnTo>
                  <a:lnTo>
                    <a:pt x="0" y="238125"/>
                  </a:lnTo>
                  <a:lnTo>
                    <a:pt x="238125" y="0"/>
                  </a:lnTo>
                  <a:lnTo>
                    <a:pt x="717885" y="0"/>
                  </a:lnTo>
                  <a:close/>
                </a:path>
              </a:pathLst>
            </a:custGeom>
            <a:solidFill>
              <a:srgbClr val="548CA8"/>
            </a:solidFill>
            <a:ln w="57150" cap="sq">
              <a:solidFill>
                <a:srgbClr val="EEEEEE"/>
              </a:solidFill>
              <a:prstDash val="solid"/>
              <a:miter/>
            </a:ln>
          </p:spPr>
        </p:sp>
        <p:sp>
          <p:nvSpPr>
            <p:cNvPr name="TextBox 22" id="22"/>
            <p:cNvSpPr txBox="true"/>
            <p:nvPr/>
          </p:nvSpPr>
          <p:spPr>
            <a:xfrm>
              <a:off x="63500" y="15875"/>
              <a:ext cx="829010" cy="795451"/>
            </a:xfrm>
            <a:prstGeom prst="rect">
              <a:avLst/>
            </a:prstGeom>
          </p:spPr>
          <p:txBody>
            <a:bodyPr anchor="ctr" rtlCol="false" tIns="50800" lIns="50800" bIns="50800" rIns="50800"/>
            <a:lstStyle/>
            <a:p>
              <a:pPr algn="ctr">
                <a:lnSpc>
                  <a:spcPts val="2566"/>
                </a:lnSpc>
              </a:pPr>
            </a:p>
          </p:txBody>
        </p:sp>
      </p:grpSp>
      <p:sp>
        <p:nvSpPr>
          <p:cNvPr name="TextBox 23" id="23"/>
          <p:cNvSpPr txBox="true"/>
          <p:nvPr/>
        </p:nvSpPr>
        <p:spPr>
          <a:xfrm rot="0">
            <a:off x="96302" y="1271069"/>
            <a:ext cx="5943081" cy="672189"/>
          </a:xfrm>
          <a:prstGeom prst="rect">
            <a:avLst/>
          </a:prstGeom>
        </p:spPr>
        <p:txBody>
          <a:bodyPr anchor="t" rtlCol="false" tIns="0" lIns="0" bIns="0" rIns="0">
            <a:spAutoFit/>
          </a:bodyPr>
          <a:lstStyle/>
          <a:p>
            <a:pPr algn="l">
              <a:lnSpc>
                <a:spcPts val="5495"/>
              </a:lnSpc>
            </a:pPr>
            <a:r>
              <a:rPr lang="en-US" sz="4131">
                <a:solidFill>
                  <a:srgbClr val="000000"/>
                </a:solidFill>
                <a:latin typeface="League Spartan"/>
                <a:ea typeface="League Spartan"/>
                <a:cs typeface="League Spartan"/>
                <a:sym typeface="League Spartan"/>
              </a:rPr>
              <a:t>RECOMMENDATIONS </a:t>
            </a:r>
          </a:p>
        </p:txBody>
      </p:sp>
      <p:sp>
        <p:nvSpPr>
          <p:cNvPr name="TextBox 24" id="24"/>
          <p:cNvSpPr txBox="true"/>
          <p:nvPr/>
        </p:nvSpPr>
        <p:spPr>
          <a:xfrm rot="0">
            <a:off x="665961" y="3184412"/>
            <a:ext cx="400644" cy="466725"/>
          </a:xfrm>
          <a:prstGeom prst="rect">
            <a:avLst/>
          </a:prstGeom>
        </p:spPr>
        <p:txBody>
          <a:bodyPr anchor="t" rtlCol="false" tIns="0" lIns="0" bIns="0" rIns="0">
            <a:spAutoFit/>
          </a:bodyPr>
          <a:lstStyle/>
          <a:p>
            <a:pPr algn="ctr">
              <a:lnSpc>
                <a:spcPts val="3413"/>
              </a:lnSpc>
            </a:pPr>
            <a:r>
              <a:rPr lang="en-US" b="true" sz="2844">
                <a:solidFill>
                  <a:srgbClr val="FFFFFF"/>
                </a:solidFill>
                <a:latin typeface="Poppins Bold"/>
                <a:ea typeface="Poppins Bold"/>
                <a:cs typeface="Poppins Bold"/>
                <a:sym typeface="Poppins Bold"/>
              </a:rPr>
              <a:t>A</a:t>
            </a:r>
          </a:p>
        </p:txBody>
      </p:sp>
      <p:sp>
        <p:nvSpPr>
          <p:cNvPr name="TextBox 25" id="25"/>
          <p:cNvSpPr txBox="true"/>
          <p:nvPr/>
        </p:nvSpPr>
        <p:spPr>
          <a:xfrm rot="0">
            <a:off x="1331002" y="2940170"/>
            <a:ext cx="4886764" cy="1209675"/>
          </a:xfrm>
          <a:prstGeom prst="rect">
            <a:avLst/>
          </a:prstGeom>
        </p:spPr>
        <p:txBody>
          <a:bodyPr anchor="t" rtlCol="false" tIns="0" lIns="0" bIns="0" rIns="0">
            <a:spAutoFit/>
          </a:bodyPr>
          <a:lstStyle/>
          <a:p>
            <a:pPr algn="l">
              <a:lnSpc>
                <a:spcPts val="1919"/>
              </a:lnSpc>
            </a:pPr>
            <a:r>
              <a:rPr lang="en-US" sz="1599">
                <a:solidFill>
                  <a:srgbClr val="FFFFFF"/>
                </a:solidFill>
                <a:latin typeface="Poppins"/>
                <a:ea typeface="Poppins"/>
                <a:cs typeface="Poppins"/>
                <a:sym typeface="Poppins"/>
              </a:rPr>
              <a:t>Implement loyalty-based retention programs (e.g., interest rate incentives, fee waivers) to maintain high repayment rates while minimizing collection cost</a:t>
            </a:r>
          </a:p>
          <a:p>
            <a:pPr algn="l">
              <a:lnSpc>
                <a:spcPts val="1919"/>
              </a:lnSpc>
            </a:pPr>
          </a:p>
        </p:txBody>
      </p:sp>
      <p:sp>
        <p:nvSpPr>
          <p:cNvPr name="TextBox 26" id="26"/>
          <p:cNvSpPr txBox="true"/>
          <p:nvPr/>
        </p:nvSpPr>
        <p:spPr>
          <a:xfrm rot="0">
            <a:off x="894886" y="4565571"/>
            <a:ext cx="343437" cy="466725"/>
          </a:xfrm>
          <a:prstGeom prst="rect">
            <a:avLst/>
          </a:prstGeom>
        </p:spPr>
        <p:txBody>
          <a:bodyPr anchor="t" rtlCol="false" tIns="0" lIns="0" bIns="0" rIns="0">
            <a:spAutoFit/>
          </a:bodyPr>
          <a:lstStyle/>
          <a:p>
            <a:pPr algn="ctr">
              <a:lnSpc>
                <a:spcPts val="3413"/>
              </a:lnSpc>
            </a:pPr>
            <a:r>
              <a:rPr lang="en-US" b="true" sz="2844">
                <a:solidFill>
                  <a:srgbClr val="FFFFFF"/>
                </a:solidFill>
                <a:latin typeface="Poppins Bold"/>
                <a:ea typeface="Poppins Bold"/>
                <a:cs typeface="Poppins Bold"/>
                <a:sym typeface="Poppins Bold"/>
              </a:rPr>
              <a:t>B</a:t>
            </a:r>
          </a:p>
        </p:txBody>
      </p:sp>
      <p:sp>
        <p:nvSpPr>
          <p:cNvPr name="TextBox 27" id="27"/>
          <p:cNvSpPr txBox="true"/>
          <p:nvPr/>
        </p:nvSpPr>
        <p:spPr>
          <a:xfrm rot="0">
            <a:off x="1566802" y="4272973"/>
            <a:ext cx="5255057" cy="1209675"/>
          </a:xfrm>
          <a:prstGeom prst="rect">
            <a:avLst/>
          </a:prstGeom>
        </p:spPr>
        <p:txBody>
          <a:bodyPr anchor="t" rtlCol="false" tIns="0" lIns="0" bIns="0" rIns="0">
            <a:spAutoFit/>
          </a:bodyPr>
          <a:lstStyle/>
          <a:p>
            <a:pPr algn="l">
              <a:lnSpc>
                <a:spcPts val="1919"/>
              </a:lnSpc>
            </a:pPr>
            <a:r>
              <a:rPr lang="en-US" sz="1599">
                <a:solidFill>
                  <a:srgbClr val="FFFFFF"/>
                </a:solidFill>
                <a:latin typeface="Poppins"/>
                <a:ea typeface="Poppins"/>
                <a:cs typeface="Poppins"/>
                <a:sym typeface="Poppins"/>
              </a:rPr>
              <a:t>Incorporate settlement-based recovery strategies, especially for delinquent accounts flagged as having moderate recovery potential, to increase resolution rates while reducing prolonged collection costs.</a:t>
            </a:r>
          </a:p>
        </p:txBody>
      </p:sp>
      <p:sp>
        <p:nvSpPr>
          <p:cNvPr name="TextBox 28" id="28"/>
          <p:cNvSpPr txBox="true"/>
          <p:nvPr/>
        </p:nvSpPr>
        <p:spPr>
          <a:xfrm rot="0">
            <a:off x="970063" y="6194923"/>
            <a:ext cx="400644" cy="466725"/>
          </a:xfrm>
          <a:prstGeom prst="rect">
            <a:avLst/>
          </a:prstGeom>
        </p:spPr>
        <p:txBody>
          <a:bodyPr anchor="t" rtlCol="false" tIns="0" lIns="0" bIns="0" rIns="0">
            <a:spAutoFit/>
          </a:bodyPr>
          <a:lstStyle/>
          <a:p>
            <a:pPr algn="ctr">
              <a:lnSpc>
                <a:spcPts val="3413"/>
              </a:lnSpc>
            </a:pPr>
            <a:r>
              <a:rPr lang="en-US" b="true" sz="2844">
                <a:solidFill>
                  <a:srgbClr val="FFFFFF"/>
                </a:solidFill>
                <a:latin typeface="Poppins Bold"/>
                <a:ea typeface="Poppins Bold"/>
                <a:cs typeface="Poppins Bold"/>
                <a:sym typeface="Poppins Bold"/>
              </a:rPr>
              <a:t>C</a:t>
            </a:r>
          </a:p>
        </p:txBody>
      </p:sp>
      <p:sp>
        <p:nvSpPr>
          <p:cNvPr name="TextBox 29" id="29"/>
          <p:cNvSpPr txBox="true"/>
          <p:nvPr/>
        </p:nvSpPr>
        <p:spPr>
          <a:xfrm rot="0">
            <a:off x="1728200" y="5867400"/>
            <a:ext cx="5552643" cy="1209675"/>
          </a:xfrm>
          <a:prstGeom prst="rect">
            <a:avLst/>
          </a:prstGeom>
        </p:spPr>
        <p:txBody>
          <a:bodyPr anchor="t" rtlCol="false" tIns="0" lIns="0" bIns="0" rIns="0">
            <a:spAutoFit/>
          </a:bodyPr>
          <a:lstStyle/>
          <a:p>
            <a:pPr algn="l">
              <a:lnSpc>
                <a:spcPts val="1919"/>
              </a:lnSpc>
            </a:pPr>
            <a:r>
              <a:rPr lang="en-US" sz="1599">
                <a:solidFill>
                  <a:srgbClr val="FFFFFF"/>
                </a:solidFill>
                <a:latin typeface="Poppins"/>
                <a:ea typeface="Poppins"/>
                <a:cs typeface="Poppins"/>
                <a:sym typeface="Poppins"/>
              </a:rPr>
              <a:t>Introduce stricter credit assessments and collateral backed lending for new business loans . For existing high risk accounts, apply early settlement negotiations to mitigate write-offs  </a:t>
            </a:r>
          </a:p>
          <a:p>
            <a:pPr algn="l">
              <a:lnSpc>
                <a:spcPts val="191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EEEEE"/>
        </a:solidFill>
      </p:bgPr>
    </p:bg>
    <p:spTree>
      <p:nvGrpSpPr>
        <p:cNvPr id="1" name=""/>
        <p:cNvGrpSpPr/>
        <p:nvPr/>
      </p:nvGrpSpPr>
      <p:grpSpPr>
        <a:xfrm>
          <a:off x="0" y="0"/>
          <a:ext cx="0" cy="0"/>
          <a:chOff x="0" y="0"/>
          <a:chExt cx="0" cy="0"/>
        </a:xfrm>
      </p:grpSpPr>
      <p:sp>
        <p:nvSpPr>
          <p:cNvPr name="TextBox 2" id="2"/>
          <p:cNvSpPr txBox="true"/>
          <p:nvPr/>
        </p:nvSpPr>
        <p:spPr>
          <a:xfrm rot="0">
            <a:off x="1099855" y="1257708"/>
            <a:ext cx="6546349" cy="740567"/>
          </a:xfrm>
          <a:prstGeom prst="rect">
            <a:avLst/>
          </a:prstGeom>
        </p:spPr>
        <p:txBody>
          <a:bodyPr anchor="t" rtlCol="false" tIns="0" lIns="0" bIns="0" rIns="0">
            <a:spAutoFit/>
          </a:bodyPr>
          <a:lstStyle/>
          <a:p>
            <a:pPr algn="l">
              <a:lnSpc>
                <a:spcPts val="6096"/>
              </a:lnSpc>
            </a:pPr>
            <a:r>
              <a:rPr lang="en-US" sz="4584">
                <a:solidFill>
                  <a:srgbClr val="000000"/>
                </a:solidFill>
                <a:latin typeface="League Spartan"/>
                <a:ea typeface="League Spartan"/>
                <a:cs typeface="League Spartan"/>
                <a:sym typeface="League Spartan"/>
              </a:rPr>
              <a:t> CONCLUSION</a:t>
            </a:r>
          </a:p>
        </p:txBody>
      </p:sp>
      <p:grpSp>
        <p:nvGrpSpPr>
          <p:cNvPr name="Group 3" id="3"/>
          <p:cNvGrpSpPr/>
          <p:nvPr/>
        </p:nvGrpSpPr>
        <p:grpSpPr>
          <a:xfrm rot="0">
            <a:off x="-856669" y="2909419"/>
            <a:ext cx="11484582" cy="2636690"/>
            <a:chOff x="0" y="0"/>
            <a:chExt cx="4253549" cy="976552"/>
          </a:xfrm>
        </p:grpSpPr>
        <p:sp>
          <p:nvSpPr>
            <p:cNvPr name="Freeform 4" id="4"/>
            <p:cNvSpPr/>
            <p:nvPr/>
          </p:nvSpPr>
          <p:spPr>
            <a:xfrm flipH="false" flipV="false" rot="0">
              <a:off x="0" y="0"/>
              <a:ext cx="4253549" cy="976552"/>
            </a:xfrm>
            <a:custGeom>
              <a:avLst/>
              <a:gdLst/>
              <a:ahLst/>
              <a:cxnLst/>
              <a:rect r="r" b="b" t="t" l="l"/>
              <a:pathLst>
                <a:path h="976552" w="4253549">
                  <a:moveTo>
                    <a:pt x="203200" y="0"/>
                  </a:moveTo>
                  <a:lnTo>
                    <a:pt x="4253549" y="0"/>
                  </a:lnTo>
                  <a:lnTo>
                    <a:pt x="4050349" y="976552"/>
                  </a:lnTo>
                  <a:lnTo>
                    <a:pt x="0" y="976552"/>
                  </a:lnTo>
                  <a:lnTo>
                    <a:pt x="203200" y="0"/>
                  </a:lnTo>
                  <a:close/>
                </a:path>
              </a:pathLst>
            </a:custGeom>
            <a:solidFill>
              <a:srgbClr val="545454"/>
            </a:solidFill>
            <a:ln cap="sq">
              <a:noFill/>
              <a:prstDash val="solid"/>
              <a:miter/>
            </a:ln>
          </p:spPr>
        </p:sp>
        <p:sp>
          <p:nvSpPr>
            <p:cNvPr name="TextBox 5" id="5"/>
            <p:cNvSpPr txBox="true"/>
            <p:nvPr/>
          </p:nvSpPr>
          <p:spPr>
            <a:xfrm>
              <a:off x="101600" y="-47625"/>
              <a:ext cx="4050349" cy="1024177"/>
            </a:xfrm>
            <a:prstGeom prst="rect">
              <a:avLst/>
            </a:prstGeom>
          </p:spPr>
          <p:txBody>
            <a:bodyPr anchor="ctr" rtlCol="false" tIns="50800" lIns="50800" bIns="50800" rIns="50800"/>
            <a:lstStyle/>
            <a:p>
              <a:pPr algn="ctr">
                <a:lnSpc>
                  <a:spcPts val="1960"/>
                </a:lnSpc>
                <a:spcBef>
                  <a:spcPct val="0"/>
                </a:spcBef>
              </a:pPr>
            </a:p>
          </p:txBody>
        </p:sp>
      </p:grpSp>
      <p:sp>
        <p:nvSpPr>
          <p:cNvPr name="TextBox 6" id="6"/>
          <p:cNvSpPr txBox="true"/>
          <p:nvPr/>
        </p:nvSpPr>
        <p:spPr>
          <a:xfrm rot="0">
            <a:off x="476720" y="3351009"/>
            <a:ext cx="8545360" cy="1722658"/>
          </a:xfrm>
          <a:prstGeom prst="rect">
            <a:avLst/>
          </a:prstGeom>
        </p:spPr>
        <p:txBody>
          <a:bodyPr anchor="t" rtlCol="false" tIns="0" lIns="0" bIns="0" rIns="0">
            <a:spAutoFit/>
          </a:bodyPr>
          <a:lstStyle/>
          <a:p>
            <a:pPr algn="just">
              <a:lnSpc>
                <a:spcPts val="2700"/>
              </a:lnSpc>
            </a:pPr>
            <a:r>
              <a:rPr lang="en-US" sz="1928">
                <a:solidFill>
                  <a:srgbClr val="FFFFFF"/>
                </a:solidFill>
                <a:latin typeface="Poppins"/>
                <a:ea typeface="Poppins"/>
                <a:cs typeface="Poppins"/>
                <a:sym typeface="Poppins"/>
              </a:rPr>
              <a:t> By harnessing AI to predict high-potential loans, we could unlock a path to more recoveries and less cost, adding millions to our bottom line. This model not only drives profitability but also empowers our teams and builds trust with customers and regulators through full FCAC/PIPEDA compliance</a:t>
            </a:r>
          </a:p>
        </p:txBody>
      </p:sp>
      <p:sp>
        <p:nvSpPr>
          <p:cNvPr name="Freeform 7" id="7"/>
          <p:cNvSpPr/>
          <p:nvPr/>
        </p:nvSpPr>
        <p:spPr>
          <a:xfrm flipH="false" flipV="false" rot="0">
            <a:off x="-274266" y="5135521"/>
            <a:ext cx="10159519" cy="2179679"/>
          </a:xfrm>
          <a:custGeom>
            <a:avLst/>
            <a:gdLst/>
            <a:ahLst/>
            <a:cxnLst/>
            <a:rect r="r" b="b" t="t" l="l"/>
            <a:pathLst>
              <a:path h="2179679" w="10159519">
                <a:moveTo>
                  <a:pt x="0" y="0"/>
                </a:moveTo>
                <a:lnTo>
                  <a:pt x="10159519" y="0"/>
                </a:lnTo>
                <a:lnTo>
                  <a:pt x="10159519" y="2179679"/>
                </a:lnTo>
                <a:lnTo>
                  <a:pt x="0" y="21796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7646204" y="1191426"/>
            <a:ext cx="3078036" cy="660379"/>
          </a:xfrm>
          <a:custGeom>
            <a:avLst/>
            <a:gdLst/>
            <a:ahLst/>
            <a:cxnLst/>
            <a:rect r="r" b="b" t="t" l="l"/>
            <a:pathLst>
              <a:path h="660379" w="3078036">
                <a:moveTo>
                  <a:pt x="0" y="0"/>
                </a:moveTo>
                <a:lnTo>
                  <a:pt x="3078036" y="0"/>
                </a:lnTo>
                <a:lnTo>
                  <a:pt x="3078036" y="660378"/>
                </a:lnTo>
                <a:lnTo>
                  <a:pt x="0" y="6603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p:cSld>
    <p:bg>
      <p:bgPr>
        <a:solidFill>
          <a:srgbClr val="EEEEEE"/>
        </a:solidFill>
      </p:bgPr>
    </p:bg>
    <p:spTree>
      <p:nvGrpSpPr>
        <p:cNvPr id="1" name=""/>
        <p:cNvGrpSpPr/>
        <p:nvPr/>
      </p:nvGrpSpPr>
      <p:grpSpPr>
        <a:xfrm>
          <a:off x="0" y="0"/>
          <a:ext cx="0" cy="0"/>
          <a:chOff x="0" y="0"/>
          <a:chExt cx="0" cy="0"/>
        </a:xfrm>
      </p:grpSpPr>
      <p:sp>
        <p:nvSpPr>
          <p:cNvPr name="TextBox 2" id="2"/>
          <p:cNvSpPr txBox="true"/>
          <p:nvPr/>
        </p:nvSpPr>
        <p:spPr>
          <a:xfrm rot="0">
            <a:off x="1840289" y="257449"/>
            <a:ext cx="4708566" cy="2498741"/>
          </a:xfrm>
          <a:prstGeom prst="rect">
            <a:avLst/>
          </a:prstGeom>
        </p:spPr>
        <p:txBody>
          <a:bodyPr anchor="t" rtlCol="false" tIns="0" lIns="0" bIns="0" rIns="0">
            <a:spAutoFit/>
          </a:bodyPr>
          <a:lstStyle/>
          <a:p>
            <a:pPr algn="just">
              <a:lnSpc>
                <a:spcPts val="6648"/>
              </a:lnSpc>
            </a:pPr>
            <a:r>
              <a:rPr lang="en-US" sz="4999">
                <a:solidFill>
                  <a:srgbClr val="000000"/>
                </a:solidFill>
                <a:latin typeface="League Spartan"/>
                <a:ea typeface="League Spartan"/>
                <a:cs typeface="League Spartan"/>
                <a:sym typeface="League Spartan"/>
              </a:rPr>
              <a:t>THANKS FOR YOUR ATTENTION </a:t>
            </a:r>
          </a:p>
        </p:txBody>
      </p:sp>
      <p:grpSp>
        <p:nvGrpSpPr>
          <p:cNvPr name="Group 3" id="3"/>
          <p:cNvGrpSpPr/>
          <p:nvPr/>
        </p:nvGrpSpPr>
        <p:grpSpPr>
          <a:xfrm rot="0">
            <a:off x="-393509" y="6507742"/>
            <a:ext cx="1375388" cy="964486"/>
            <a:chOff x="0" y="0"/>
            <a:chExt cx="509403" cy="357217"/>
          </a:xfrm>
        </p:grpSpPr>
        <p:sp>
          <p:nvSpPr>
            <p:cNvPr name="Freeform 4" id="4"/>
            <p:cNvSpPr/>
            <p:nvPr/>
          </p:nvSpPr>
          <p:spPr>
            <a:xfrm flipH="false" flipV="false" rot="0">
              <a:off x="0" y="0"/>
              <a:ext cx="509403" cy="357217"/>
            </a:xfrm>
            <a:custGeom>
              <a:avLst/>
              <a:gdLst/>
              <a:ahLst/>
              <a:cxnLst/>
              <a:rect r="r" b="b" t="t" l="l"/>
              <a:pathLst>
                <a:path h="357217" w="509403">
                  <a:moveTo>
                    <a:pt x="45031" y="0"/>
                  </a:moveTo>
                  <a:lnTo>
                    <a:pt x="464372" y="0"/>
                  </a:lnTo>
                  <a:cubicBezTo>
                    <a:pt x="489242" y="0"/>
                    <a:pt x="509403" y="20161"/>
                    <a:pt x="509403" y="45031"/>
                  </a:cubicBezTo>
                  <a:lnTo>
                    <a:pt x="509403" y="312186"/>
                  </a:lnTo>
                  <a:cubicBezTo>
                    <a:pt x="509403" y="337056"/>
                    <a:pt x="489242" y="357217"/>
                    <a:pt x="464372" y="357217"/>
                  </a:cubicBezTo>
                  <a:lnTo>
                    <a:pt x="45031" y="357217"/>
                  </a:lnTo>
                  <a:cubicBezTo>
                    <a:pt x="20161" y="357217"/>
                    <a:pt x="0" y="337056"/>
                    <a:pt x="0" y="312186"/>
                  </a:cubicBezTo>
                  <a:lnTo>
                    <a:pt x="0" y="45031"/>
                  </a:lnTo>
                  <a:cubicBezTo>
                    <a:pt x="0" y="20161"/>
                    <a:pt x="20161" y="0"/>
                    <a:pt x="45031" y="0"/>
                  </a:cubicBezTo>
                  <a:close/>
                </a:path>
              </a:pathLst>
            </a:custGeom>
            <a:solidFill>
              <a:srgbClr val="088395"/>
            </a:solidFill>
          </p:spPr>
        </p:sp>
        <p:sp>
          <p:nvSpPr>
            <p:cNvPr name="TextBox 5" id="5"/>
            <p:cNvSpPr txBox="true"/>
            <p:nvPr/>
          </p:nvSpPr>
          <p:spPr>
            <a:xfrm>
              <a:off x="0" y="-47625"/>
              <a:ext cx="509403" cy="404842"/>
            </a:xfrm>
            <a:prstGeom prst="rect">
              <a:avLst/>
            </a:prstGeom>
          </p:spPr>
          <p:txBody>
            <a:bodyPr anchor="ctr" rtlCol="false" tIns="50800" lIns="50800" bIns="50800" rIns="50800"/>
            <a:lstStyle/>
            <a:p>
              <a:pPr algn="ctr">
                <a:lnSpc>
                  <a:spcPts val="2566"/>
                </a:lnSpc>
              </a:pPr>
            </a:p>
          </p:txBody>
        </p:sp>
      </p:grpSp>
      <p:grpSp>
        <p:nvGrpSpPr>
          <p:cNvPr name="Group 6" id="6"/>
          <p:cNvGrpSpPr/>
          <p:nvPr/>
        </p:nvGrpSpPr>
        <p:grpSpPr>
          <a:xfrm rot="0">
            <a:off x="616586" y="2756190"/>
            <a:ext cx="9252415" cy="3358102"/>
            <a:chOff x="0" y="0"/>
            <a:chExt cx="3426820" cy="1243741"/>
          </a:xfrm>
        </p:grpSpPr>
        <p:sp>
          <p:nvSpPr>
            <p:cNvPr name="Freeform 7" id="7"/>
            <p:cNvSpPr/>
            <p:nvPr/>
          </p:nvSpPr>
          <p:spPr>
            <a:xfrm flipH="false" flipV="false" rot="0">
              <a:off x="0" y="0"/>
              <a:ext cx="3426820" cy="1243741"/>
            </a:xfrm>
            <a:custGeom>
              <a:avLst/>
              <a:gdLst/>
              <a:ahLst/>
              <a:cxnLst/>
              <a:rect r="r" b="b" t="t" l="l"/>
              <a:pathLst>
                <a:path h="1243741" w="3426820">
                  <a:moveTo>
                    <a:pt x="203200" y="0"/>
                  </a:moveTo>
                  <a:lnTo>
                    <a:pt x="3426820" y="0"/>
                  </a:lnTo>
                  <a:lnTo>
                    <a:pt x="3223620" y="1243741"/>
                  </a:lnTo>
                  <a:lnTo>
                    <a:pt x="0" y="1243741"/>
                  </a:lnTo>
                  <a:lnTo>
                    <a:pt x="203200" y="0"/>
                  </a:lnTo>
                  <a:close/>
                </a:path>
              </a:pathLst>
            </a:custGeom>
            <a:solidFill>
              <a:srgbClr val="545454"/>
            </a:solidFill>
            <a:ln w="114300" cap="sq">
              <a:solidFill>
                <a:srgbClr val="EEEEEE"/>
              </a:solidFill>
              <a:prstDash val="solid"/>
              <a:miter/>
            </a:ln>
          </p:spPr>
        </p:sp>
        <p:sp>
          <p:nvSpPr>
            <p:cNvPr name="TextBox 8" id="8"/>
            <p:cNvSpPr txBox="true"/>
            <p:nvPr/>
          </p:nvSpPr>
          <p:spPr>
            <a:xfrm>
              <a:off x="101600" y="-152400"/>
              <a:ext cx="3223620" cy="1396141"/>
            </a:xfrm>
            <a:prstGeom prst="rect">
              <a:avLst/>
            </a:prstGeom>
          </p:spPr>
          <p:txBody>
            <a:bodyPr anchor="ctr" rtlCol="false" tIns="50800" lIns="50800" bIns="50800" rIns="50800"/>
            <a:lstStyle/>
            <a:p>
              <a:pPr algn="ctr">
                <a:lnSpc>
                  <a:spcPts val="7419"/>
                </a:lnSpc>
                <a:spcBef>
                  <a:spcPct val="0"/>
                </a:spcBef>
              </a:pPr>
              <a:r>
                <a:rPr lang="en-US" sz="5299">
                  <a:solidFill>
                    <a:srgbClr val="FFFFFF"/>
                  </a:solidFill>
                  <a:latin typeface="Poppins"/>
                  <a:ea typeface="Poppins"/>
                  <a:cs typeface="Poppins"/>
                  <a:sym typeface="Poppins"/>
                </a:rPr>
                <a:t>Q &amp; A</a:t>
              </a:r>
            </a:p>
          </p:txBody>
        </p:sp>
      </p:grpSp>
      <p:grpSp>
        <p:nvGrpSpPr>
          <p:cNvPr name="Group 9" id="9"/>
          <p:cNvGrpSpPr/>
          <p:nvPr/>
        </p:nvGrpSpPr>
        <p:grpSpPr>
          <a:xfrm rot="0">
            <a:off x="8656320" y="271447"/>
            <a:ext cx="2194560" cy="7043753"/>
            <a:chOff x="0" y="0"/>
            <a:chExt cx="812800" cy="2608797"/>
          </a:xfrm>
        </p:grpSpPr>
        <p:sp>
          <p:nvSpPr>
            <p:cNvPr name="Freeform 10" id="10"/>
            <p:cNvSpPr/>
            <p:nvPr/>
          </p:nvSpPr>
          <p:spPr>
            <a:xfrm flipH="false" flipV="false" rot="0">
              <a:off x="0" y="0"/>
              <a:ext cx="812800" cy="2608797"/>
            </a:xfrm>
            <a:custGeom>
              <a:avLst/>
              <a:gdLst/>
              <a:ahLst/>
              <a:cxnLst/>
              <a:rect r="r" b="b" t="t" l="l"/>
              <a:pathLst>
                <a:path h="2608797" w="812800">
                  <a:moveTo>
                    <a:pt x="812800" y="1304399"/>
                  </a:moveTo>
                  <a:lnTo>
                    <a:pt x="609600" y="2608797"/>
                  </a:lnTo>
                  <a:lnTo>
                    <a:pt x="203200" y="2608797"/>
                  </a:lnTo>
                  <a:lnTo>
                    <a:pt x="0" y="1304399"/>
                  </a:lnTo>
                  <a:lnTo>
                    <a:pt x="203200" y="0"/>
                  </a:lnTo>
                  <a:lnTo>
                    <a:pt x="609600" y="0"/>
                  </a:lnTo>
                  <a:lnTo>
                    <a:pt x="812800" y="1304399"/>
                  </a:lnTo>
                  <a:close/>
                </a:path>
              </a:pathLst>
            </a:custGeom>
            <a:solidFill>
              <a:srgbClr val="545454"/>
            </a:solidFill>
          </p:spPr>
        </p:sp>
        <p:sp>
          <p:nvSpPr>
            <p:cNvPr name="TextBox 11" id="11"/>
            <p:cNvSpPr txBox="true"/>
            <p:nvPr/>
          </p:nvSpPr>
          <p:spPr>
            <a:xfrm>
              <a:off x="114300" y="-47625"/>
              <a:ext cx="584200" cy="2656422"/>
            </a:xfrm>
            <a:prstGeom prst="rect">
              <a:avLst/>
            </a:prstGeom>
          </p:spPr>
          <p:txBody>
            <a:bodyPr anchor="ctr" rtlCol="false" tIns="50800" lIns="50800" bIns="50800" rIns="50800"/>
            <a:lstStyle/>
            <a:p>
              <a:pPr algn="ctr">
                <a:lnSpc>
                  <a:spcPts val="2566"/>
                </a:lnSpc>
              </a:pPr>
            </a:p>
          </p:txBody>
        </p:sp>
      </p:grpSp>
      <p:grpSp>
        <p:nvGrpSpPr>
          <p:cNvPr name="Group 12" id="12"/>
          <p:cNvGrpSpPr/>
          <p:nvPr/>
        </p:nvGrpSpPr>
        <p:grpSpPr>
          <a:xfrm rot="0">
            <a:off x="8771721" y="-232966"/>
            <a:ext cx="1375388" cy="964486"/>
            <a:chOff x="0" y="0"/>
            <a:chExt cx="509403" cy="357217"/>
          </a:xfrm>
        </p:grpSpPr>
        <p:sp>
          <p:nvSpPr>
            <p:cNvPr name="Freeform 13" id="13"/>
            <p:cNvSpPr/>
            <p:nvPr/>
          </p:nvSpPr>
          <p:spPr>
            <a:xfrm flipH="false" flipV="false" rot="0">
              <a:off x="0" y="0"/>
              <a:ext cx="509403" cy="357217"/>
            </a:xfrm>
            <a:custGeom>
              <a:avLst/>
              <a:gdLst/>
              <a:ahLst/>
              <a:cxnLst/>
              <a:rect r="r" b="b" t="t" l="l"/>
              <a:pathLst>
                <a:path h="357217" w="509403">
                  <a:moveTo>
                    <a:pt x="45031" y="0"/>
                  </a:moveTo>
                  <a:lnTo>
                    <a:pt x="464372" y="0"/>
                  </a:lnTo>
                  <a:cubicBezTo>
                    <a:pt x="489242" y="0"/>
                    <a:pt x="509403" y="20161"/>
                    <a:pt x="509403" y="45031"/>
                  </a:cubicBezTo>
                  <a:lnTo>
                    <a:pt x="509403" y="312186"/>
                  </a:lnTo>
                  <a:cubicBezTo>
                    <a:pt x="509403" y="337056"/>
                    <a:pt x="489242" y="357217"/>
                    <a:pt x="464372" y="357217"/>
                  </a:cubicBezTo>
                  <a:lnTo>
                    <a:pt x="45031" y="357217"/>
                  </a:lnTo>
                  <a:cubicBezTo>
                    <a:pt x="20161" y="357217"/>
                    <a:pt x="0" y="337056"/>
                    <a:pt x="0" y="312186"/>
                  </a:cubicBezTo>
                  <a:lnTo>
                    <a:pt x="0" y="45031"/>
                  </a:lnTo>
                  <a:cubicBezTo>
                    <a:pt x="0" y="20161"/>
                    <a:pt x="20161" y="0"/>
                    <a:pt x="45031" y="0"/>
                  </a:cubicBezTo>
                  <a:close/>
                </a:path>
              </a:pathLst>
            </a:custGeom>
            <a:solidFill>
              <a:srgbClr val="088395"/>
            </a:solidFill>
          </p:spPr>
        </p:sp>
        <p:sp>
          <p:nvSpPr>
            <p:cNvPr name="TextBox 14" id="14"/>
            <p:cNvSpPr txBox="true"/>
            <p:nvPr/>
          </p:nvSpPr>
          <p:spPr>
            <a:xfrm>
              <a:off x="0" y="-47625"/>
              <a:ext cx="509403" cy="404842"/>
            </a:xfrm>
            <a:prstGeom prst="rect">
              <a:avLst/>
            </a:prstGeom>
          </p:spPr>
          <p:txBody>
            <a:bodyPr anchor="ctr" rtlCol="false" tIns="50800" lIns="50800" bIns="50800" rIns="50800"/>
            <a:lstStyle/>
            <a:p>
              <a:pPr algn="ctr">
                <a:lnSpc>
                  <a:spcPts val="2566"/>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605552" y="6506027"/>
            <a:ext cx="8542496" cy="1786158"/>
          </a:xfrm>
          <a:custGeom>
            <a:avLst/>
            <a:gdLst/>
            <a:ahLst/>
            <a:cxnLst/>
            <a:rect r="r" b="b" t="t" l="l"/>
            <a:pathLst>
              <a:path h="1786158" w="8542496">
                <a:moveTo>
                  <a:pt x="0" y="1786159"/>
                </a:moveTo>
                <a:lnTo>
                  <a:pt x="8542496" y="1786159"/>
                </a:lnTo>
                <a:lnTo>
                  <a:pt x="8542496" y="0"/>
                </a:lnTo>
                <a:lnTo>
                  <a:pt x="0" y="0"/>
                </a:lnTo>
                <a:lnTo>
                  <a:pt x="0" y="178615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53689" y="287012"/>
            <a:ext cx="6846222" cy="822341"/>
          </a:xfrm>
          <a:prstGeom prst="rect">
            <a:avLst/>
          </a:prstGeom>
        </p:spPr>
        <p:txBody>
          <a:bodyPr anchor="t" rtlCol="false" tIns="0" lIns="0" bIns="0" rIns="0">
            <a:spAutoFit/>
          </a:bodyPr>
          <a:lstStyle/>
          <a:p>
            <a:pPr algn="ctr">
              <a:lnSpc>
                <a:spcPts val="6648"/>
              </a:lnSpc>
            </a:pPr>
            <a:r>
              <a:rPr lang="en-US" sz="4999">
                <a:solidFill>
                  <a:srgbClr val="000000"/>
                </a:solidFill>
                <a:latin typeface="League Spartan"/>
                <a:ea typeface="League Spartan"/>
                <a:cs typeface="League Spartan"/>
                <a:sym typeface="League Spartan"/>
              </a:rPr>
              <a:t>REFERENCES</a:t>
            </a:r>
          </a:p>
        </p:txBody>
      </p:sp>
      <p:sp>
        <p:nvSpPr>
          <p:cNvPr name="TextBox 4" id="4"/>
          <p:cNvSpPr txBox="true"/>
          <p:nvPr/>
        </p:nvSpPr>
        <p:spPr>
          <a:xfrm rot="0">
            <a:off x="290342" y="1625702"/>
            <a:ext cx="8969067" cy="835660"/>
          </a:xfrm>
          <a:prstGeom prst="rect">
            <a:avLst/>
          </a:prstGeom>
        </p:spPr>
        <p:txBody>
          <a:bodyPr anchor="t" rtlCol="false" tIns="0" lIns="0" bIns="0" rIns="0">
            <a:spAutoFit/>
          </a:bodyPr>
          <a:lstStyle/>
          <a:p>
            <a:pPr algn="ctr">
              <a:lnSpc>
                <a:spcPts val="2240"/>
              </a:lnSpc>
            </a:pPr>
            <a:r>
              <a:rPr lang="en-US" sz="1600">
                <a:solidFill>
                  <a:srgbClr val="000000"/>
                </a:solidFill>
                <a:latin typeface="Poppins"/>
                <a:ea typeface="Poppins"/>
                <a:cs typeface="Poppins"/>
                <a:sym typeface="Poppins"/>
              </a:rPr>
              <a:t>Global Credit Data. (2020, October 20). Downturn LGD Study 2020. Retrieved from Global       Credit Data website: </a:t>
            </a:r>
            <a:r>
              <a:rPr lang="en-US" sz="1600" u="sng">
                <a:solidFill>
                  <a:srgbClr val="000000"/>
                </a:solidFill>
                <a:latin typeface="Poppins"/>
                <a:ea typeface="Poppins"/>
                <a:cs typeface="Poppins"/>
                <a:sym typeface="Poppins"/>
                <a:hlinkClick r:id="rId4" tooltip="https://globalcreditdata.org/library/downturn-lgd-study-2020"/>
              </a:rPr>
              <a:t>https://globalcreditdata.org/library/downturn-lgd-study-2020</a:t>
            </a:r>
          </a:p>
          <a:p>
            <a:pPr algn="ctr">
              <a:lnSpc>
                <a:spcPts val="224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605552" y="6506027"/>
            <a:ext cx="8542496" cy="1786158"/>
          </a:xfrm>
          <a:custGeom>
            <a:avLst/>
            <a:gdLst/>
            <a:ahLst/>
            <a:cxnLst/>
            <a:rect r="r" b="b" t="t" l="l"/>
            <a:pathLst>
              <a:path h="1786158" w="8542496">
                <a:moveTo>
                  <a:pt x="0" y="1786159"/>
                </a:moveTo>
                <a:lnTo>
                  <a:pt x="8542496" y="1786159"/>
                </a:lnTo>
                <a:lnTo>
                  <a:pt x="8542496" y="0"/>
                </a:lnTo>
                <a:lnTo>
                  <a:pt x="0" y="0"/>
                </a:lnTo>
                <a:lnTo>
                  <a:pt x="0" y="178615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1918" y="3366805"/>
            <a:ext cx="7418984" cy="2924127"/>
          </a:xfrm>
          <a:custGeom>
            <a:avLst/>
            <a:gdLst/>
            <a:ahLst/>
            <a:cxnLst/>
            <a:rect r="r" b="b" t="t" l="l"/>
            <a:pathLst>
              <a:path h="2924127" w="7418984">
                <a:moveTo>
                  <a:pt x="0" y="0"/>
                </a:moveTo>
                <a:lnTo>
                  <a:pt x="7418984" y="0"/>
                </a:lnTo>
                <a:lnTo>
                  <a:pt x="7418984" y="2924127"/>
                </a:lnTo>
                <a:lnTo>
                  <a:pt x="0" y="2924127"/>
                </a:lnTo>
                <a:lnTo>
                  <a:pt x="0" y="0"/>
                </a:lnTo>
                <a:close/>
              </a:path>
            </a:pathLst>
          </a:custGeom>
          <a:blipFill>
            <a:blip r:embed="rId4"/>
            <a:stretch>
              <a:fillRect l="0" t="0" r="0" b="0"/>
            </a:stretch>
          </a:blipFill>
        </p:spPr>
      </p:sp>
      <p:sp>
        <p:nvSpPr>
          <p:cNvPr name="TextBox 4" id="4"/>
          <p:cNvSpPr txBox="true"/>
          <p:nvPr/>
        </p:nvSpPr>
        <p:spPr>
          <a:xfrm rot="0">
            <a:off x="1453689" y="287012"/>
            <a:ext cx="6846222" cy="822341"/>
          </a:xfrm>
          <a:prstGeom prst="rect">
            <a:avLst/>
          </a:prstGeom>
        </p:spPr>
        <p:txBody>
          <a:bodyPr anchor="t" rtlCol="false" tIns="0" lIns="0" bIns="0" rIns="0">
            <a:spAutoFit/>
          </a:bodyPr>
          <a:lstStyle/>
          <a:p>
            <a:pPr algn="ctr">
              <a:lnSpc>
                <a:spcPts val="6648"/>
              </a:lnSpc>
            </a:pPr>
            <a:r>
              <a:rPr lang="en-US" sz="4999">
                <a:solidFill>
                  <a:srgbClr val="000000"/>
                </a:solidFill>
                <a:latin typeface="League Spartan"/>
                <a:ea typeface="League Spartan"/>
                <a:cs typeface="League Spartan"/>
                <a:sym typeface="League Spartan"/>
              </a:rPr>
              <a:t>APPENDIX </a:t>
            </a:r>
          </a:p>
        </p:txBody>
      </p:sp>
      <p:sp>
        <p:nvSpPr>
          <p:cNvPr name="TextBox 5" id="5"/>
          <p:cNvSpPr txBox="true"/>
          <p:nvPr/>
        </p:nvSpPr>
        <p:spPr>
          <a:xfrm rot="0">
            <a:off x="-377386" y="1625702"/>
            <a:ext cx="7717077" cy="559435"/>
          </a:xfrm>
          <a:prstGeom prst="rect">
            <a:avLst/>
          </a:prstGeom>
        </p:spPr>
        <p:txBody>
          <a:bodyPr anchor="t" rtlCol="false" tIns="0" lIns="0" bIns="0" rIns="0">
            <a:spAutoFit/>
          </a:bodyPr>
          <a:lstStyle/>
          <a:p>
            <a:pPr algn="ctr">
              <a:lnSpc>
                <a:spcPts val="2240"/>
              </a:lnSpc>
            </a:pPr>
            <a:r>
              <a:rPr lang="en-US" sz="1600">
                <a:solidFill>
                  <a:srgbClr val="000000"/>
                </a:solidFill>
                <a:latin typeface="Poppins"/>
                <a:ea typeface="Poppins"/>
                <a:cs typeface="Poppins"/>
                <a:sym typeface="Poppins"/>
              </a:rPr>
              <a:t>FCAC;  Financial Consumer Agency of Canada </a:t>
            </a:r>
          </a:p>
          <a:p>
            <a:pPr algn="ctr">
              <a:lnSpc>
                <a:spcPts val="2240"/>
              </a:lnSpc>
            </a:pPr>
          </a:p>
        </p:txBody>
      </p:sp>
      <p:sp>
        <p:nvSpPr>
          <p:cNvPr name="TextBox 6" id="6"/>
          <p:cNvSpPr txBox="true"/>
          <p:nvPr/>
        </p:nvSpPr>
        <p:spPr>
          <a:xfrm rot="0">
            <a:off x="981918" y="2137512"/>
            <a:ext cx="7418984" cy="559435"/>
          </a:xfrm>
          <a:prstGeom prst="rect">
            <a:avLst/>
          </a:prstGeom>
        </p:spPr>
        <p:txBody>
          <a:bodyPr anchor="t" rtlCol="false" tIns="0" lIns="0" bIns="0" rIns="0">
            <a:spAutoFit/>
          </a:bodyPr>
          <a:lstStyle/>
          <a:p>
            <a:pPr algn="ctr">
              <a:lnSpc>
                <a:spcPts val="2240"/>
              </a:lnSpc>
            </a:pPr>
            <a:r>
              <a:rPr lang="en-US" sz="1600">
                <a:solidFill>
                  <a:srgbClr val="000000"/>
                </a:solidFill>
                <a:latin typeface="Poppins"/>
                <a:ea typeface="Poppins"/>
                <a:cs typeface="Poppins"/>
                <a:sym typeface="Poppins"/>
              </a:rPr>
              <a:t>PIPEDA; Personal Information Protection and Electronic Documents Act</a:t>
            </a:r>
          </a:p>
          <a:p>
            <a:pPr algn="ctr">
              <a:lnSpc>
                <a:spcPts val="2240"/>
              </a:lnSpc>
            </a:pPr>
          </a:p>
        </p:txBody>
      </p:sp>
      <p:sp>
        <p:nvSpPr>
          <p:cNvPr name="TextBox 7" id="7"/>
          <p:cNvSpPr txBox="true"/>
          <p:nvPr/>
        </p:nvSpPr>
        <p:spPr>
          <a:xfrm rot="0">
            <a:off x="820304" y="2864520"/>
            <a:ext cx="4056496" cy="283210"/>
          </a:xfrm>
          <a:prstGeom prst="rect">
            <a:avLst/>
          </a:prstGeom>
        </p:spPr>
        <p:txBody>
          <a:bodyPr anchor="t" rtlCol="false" tIns="0" lIns="0" bIns="0" rIns="0">
            <a:spAutoFit/>
          </a:bodyPr>
          <a:lstStyle/>
          <a:p>
            <a:pPr algn="ctr">
              <a:lnSpc>
                <a:spcPts val="2240"/>
              </a:lnSpc>
            </a:pPr>
            <a:r>
              <a:rPr lang="en-US" sz="1600">
                <a:solidFill>
                  <a:srgbClr val="000000"/>
                </a:solidFill>
                <a:latin typeface="Poppins"/>
                <a:ea typeface="Poppins"/>
                <a:cs typeface="Poppins"/>
                <a:sym typeface="Poppins"/>
              </a:rPr>
              <a:t>Forward regression odds statistic STEP 1</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605552" y="6506027"/>
            <a:ext cx="8542496" cy="1786158"/>
          </a:xfrm>
          <a:custGeom>
            <a:avLst/>
            <a:gdLst/>
            <a:ahLst/>
            <a:cxnLst/>
            <a:rect r="r" b="b" t="t" l="l"/>
            <a:pathLst>
              <a:path h="1786158" w="8542496">
                <a:moveTo>
                  <a:pt x="0" y="1786159"/>
                </a:moveTo>
                <a:lnTo>
                  <a:pt x="8542496" y="1786159"/>
                </a:lnTo>
                <a:lnTo>
                  <a:pt x="8542496" y="0"/>
                </a:lnTo>
                <a:lnTo>
                  <a:pt x="0" y="0"/>
                </a:lnTo>
                <a:lnTo>
                  <a:pt x="0" y="178615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00080" y="2574053"/>
            <a:ext cx="6380947" cy="1682882"/>
          </a:xfrm>
          <a:custGeom>
            <a:avLst/>
            <a:gdLst/>
            <a:ahLst/>
            <a:cxnLst/>
            <a:rect r="r" b="b" t="t" l="l"/>
            <a:pathLst>
              <a:path h="1682882" w="6380947">
                <a:moveTo>
                  <a:pt x="0" y="0"/>
                </a:moveTo>
                <a:lnTo>
                  <a:pt x="6380947" y="0"/>
                </a:lnTo>
                <a:lnTo>
                  <a:pt x="6380947" y="1682882"/>
                </a:lnTo>
                <a:lnTo>
                  <a:pt x="0" y="1682882"/>
                </a:lnTo>
                <a:lnTo>
                  <a:pt x="0" y="0"/>
                </a:lnTo>
                <a:close/>
              </a:path>
            </a:pathLst>
          </a:custGeom>
          <a:blipFill>
            <a:blip r:embed="rId4"/>
            <a:stretch>
              <a:fillRect l="0" t="0" r="0" b="-3323"/>
            </a:stretch>
          </a:blipFill>
        </p:spPr>
      </p:sp>
      <p:sp>
        <p:nvSpPr>
          <p:cNvPr name="TextBox 4" id="4"/>
          <p:cNvSpPr txBox="true"/>
          <p:nvPr/>
        </p:nvSpPr>
        <p:spPr>
          <a:xfrm rot="0">
            <a:off x="1453689" y="287012"/>
            <a:ext cx="6846222" cy="822341"/>
          </a:xfrm>
          <a:prstGeom prst="rect">
            <a:avLst/>
          </a:prstGeom>
        </p:spPr>
        <p:txBody>
          <a:bodyPr anchor="t" rtlCol="false" tIns="0" lIns="0" bIns="0" rIns="0">
            <a:spAutoFit/>
          </a:bodyPr>
          <a:lstStyle/>
          <a:p>
            <a:pPr algn="ctr">
              <a:lnSpc>
                <a:spcPts val="6648"/>
              </a:lnSpc>
            </a:pPr>
            <a:r>
              <a:rPr lang="en-US" sz="4999">
                <a:solidFill>
                  <a:srgbClr val="000000"/>
                </a:solidFill>
                <a:latin typeface="League Spartan"/>
                <a:ea typeface="League Spartan"/>
                <a:cs typeface="League Spartan"/>
                <a:sym typeface="League Spartan"/>
              </a:rPr>
              <a:t>APPENDIX </a:t>
            </a:r>
          </a:p>
        </p:txBody>
      </p:sp>
      <p:sp>
        <p:nvSpPr>
          <p:cNvPr name="TextBox 5" id="5"/>
          <p:cNvSpPr txBox="true"/>
          <p:nvPr/>
        </p:nvSpPr>
        <p:spPr>
          <a:xfrm rot="0">
            <a:off x="922299" y="1797358"/>
            <a:ext cx="5284638" cy="283210"/>
          </a:xfrm>
          <a:prstGeom prst="rect">
            <a:avLst/>
          </a:prstGeom>
        </p:spPr>
        <p:txBody>
          <a:bodyPr anchor="t" rtlCol="false" tIns="0" lIns="0" bIns="0" rIns="0">
            <a:spAutoFit/>
          </a:bodyPr>
          <a:lstStyle/>
          <a:p>
            <a:pPr algn="ctr">
              <a:lnSpc>
                <a:spcPts val="2240"/>
              </a:lnSpc>
            </a:pPr>
            <a:r>
              <a:rPr lang="en-US" sz="1600">
                <a:solidFill>
                  <a:srgbClr val="000000"/>
                </a:solidFill>
                <a:latin typeface="Poppins"/>
                <a:ea typeface="Poppins"/>
                <a:cs typeface="Poppins"/>
                <a:sym typeface="Poppins"/>
              </a:rPr>
              <a:t>Forward regression statistic significance  STEP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DAGvupLnXpY</dc:identifier>
  <dcterms:modified xsi:type="dcterms:W3CDTF">2011-08-01T06:04:30Z</dcterms:modified>
  <cp:revision>1</cp:revision>
  <dc:title>Grey and Blue Professional Business Report Presentation</dc:title>
</cp:coreProperties>
</file>